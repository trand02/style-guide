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sv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sv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sv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sv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sv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svg"/><Relationship Id="rId25" Type="http://schemas.openxmlformats.org/officeDocument/2006/relationships/image" Target="../media/image-13-25.png"/><Relationship Id="rId26" Type="http://schemas.openxmlformats.org/officeDocument/2006/relationships/image" Target="../media/image-13-26.svg"/><Relationship Id="rId27" Type="http://schemas.openxmlformats.org/officeDocument/2006/relationships/image" Target="../media/image-13-27.png"/><Relationship Id="rId28" Type="http://schemas.openxmlformats.org/officeDocument/2006/relationships/image" Target="../media/image-13-28.svg"/><Relationship Id="rId29" Type="http://schemas.openxmlformats.org/officeDocument/2006/relationships/image" Target="../media/image-13-29.png"/><Relationship Id="rId30" Type="http://schemas.openxmlformats.org/officeDocument/2006/relationships/image" Target="../media/image-13-30.svg"/><Relationship Id="rId31" Type="http://schemas.openxmlformats.org/officeDocument/2006/relationships/image" Target="../media/image-13-31.png"/><Relationship Id="rId32" Type="http://schemas.openxmlformats.org/officeDocument/2006/relationships/image" Target="../media/image-13-32.svg"/><Relationship Id="rId33" Type="http://schemas.openxmlformats.org/officeDocument/2006/relationships/image" Target="../media/image-13-33.png"/><Relationship Id="rId34" Type="http://schemas.openxmlformats.org/officeDocument/2006/relationships/image" Target="../media/image-13-34.svg"/><Relationship Id="rId35" Type="http://schemas.openxmlformats.org/officeDocument/2006/relationships/image" Target="../media/image-13-35.png"/><Relationship Id="rId36" Type="http://schemas.openxmlformats.org/officeDocument/2006/relationships/image" Target="../media/image-13-36.sv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image" Target="../media/image-18-3.jpeg"/><Relationship Id="rId4" Type="http://schemas.openxmlformats.org/officeDocument/2006/relationships/image" Target="../media/image-18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image" Target="../media/image-20-9.png"/><Relationship Id="rId10" Type="http://schemas.openxmlformats.org/officeDocument/2006/relationships/image" Target="../media/image-20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5ED3E4">
                  <a:alpha val="100000"/>
                </a:srgbClr>
              </a:gs>
              <a:gs pos="55000">
                <a:srgbClr val="2BC3D8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3600000" scaled="0"/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09553"/>
            <a:ext cx="1917165" cy="381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2535910"/>
            <a:ext cx="1173480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762000" y="2938388"/>
            <a:ext cx="8829676" cy="2317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66"/>
              </a:lnSpc>
              <a:buNone/>
            </a:pPr>
            <a:r>
              <a:rPr lang="en-US" sz="5700" b="1" spc="-114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Заголовок презентации в две строки</a:t>
            </a:r>
            <a:endParaRPr lang="en-US" sz="5700" dirty="0"/>
          </a:p>
        </p:txBody>
      </p:sp>
      <p:sp>
        <p:nvSpPr>
          <p:cNvPr id="6" name="Text 3"/>
          <p:cNvSpPr/>
          <p:nvPr/>
        </p:nvSpPr>
        <p:spPr>
          <a:xfrm>
            <a:off x="762000" y="5446728"/>
            <a:ext cx="6278880" cy="535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Подзаголовок: одно предложение о том, что внутри и для кого эта презентация.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72737"/>
            <a:ext cx="10668000" cy="9525"/>
          </a:xfrm>
          <a:prstGeom prst="rect">
            <a:avLst/>
          </a:prstGeom>
          <a:solidFill>
            <a:srgbClr val="D7D7D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09544"/>
            <a:ext cx="1425566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СОДЕРЖАНИЕ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" y="1497211"/>
            <a:ext cx="380974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4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57274" y="1439363"/>
            <a:ext cx="2341067" cy="344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Контекст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57274" y="1783863"/>
            <a:ext cx="23410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Рынок и текущая ситуация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774" y="1497211"/>
            <a:ext cx="380974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4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96048" y="1439363"/>
            <a:ext cx="2836897" cy="344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96048" y="1783863"/>
            <a:ext cx="28368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мешает пациенту и клинике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2298809"/>
            <a:ext cx="380974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4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57274" y="2240961"/>
            <a:ext cx="2742799" cy="344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Решение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57274" y="2585470"/>
            <a:ext cx="27427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Продукт и ключевые сценарии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774" y="2298809"/>
            <a:ext cx="380974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4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96048" y="2240961"/>
            <a:ext cx="1662876" cy="344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896048" y="2585470"/>
            <a:ext cx="16628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Метрики и эффект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2000" y="3100415"/>
            <a:ext cx="380974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4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57274" y="3042568"/>
            <a:ext cx="2022613" cy="344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Планы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57274" y="3387068"/>
            <a:ext cx="20226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Дорожная карта на год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774" y="3100415"/>
            <a:ext cx="380974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4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96048" y="3042568"/>
            <a:ext cx="1484075" cy="344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896048" y="3387068"/>
            <a:ext cx="14840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Кто ведёт проект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2000" y="630306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1237042" y="6303066"/>
            <a:ext cx="269159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5ED3E4">
                  <a:alpha val="100000"/>
                </a:srgbClr>
              </a:gs>
              <a:gs pos="55000">
                <a:srgbClr val="2BC3D8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762000" y="609553"/>
            <a:ext cx="2067883" cy="1600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7117"/>
              </a:lnSpc>
              <a:buNone/>
            </a:pPr>
            <a:r>
              <a:rPr lang="en-US" sz="15000" b="1" spc="-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0701649" y="723853"/>
            <a:ext cx="804552" cy="21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РАЗДЕЛ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762000" y="3696249"/>
            <a:ext cx="914322" cy="38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962846"/>
            <a:ext cx="8591550" cy="666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57"/>
              </a:lnSpc>
              <a:buNone/>
            </a:pPr>
            <a:r>
              <a:rPr lang="en-US" sz="4500" b="1" spc="-9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Разделитель раздела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762000" y="4819966"/>
            <a:ext cx="6082665" cy="628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Короткая подводка к разделу — один-два тезиса о том, что будет дальше.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630306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1238983" y="6303066"/>
            <a:ext cx="267218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44"/>
            <a:ext cx="8437246" cy="100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Заголовок слайда с основным утверждением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954178"/>
            <a:ext cx="3403635" cy="3989500"/>
          </a:xfrm>
          <a:prstGeom prst="roundRect">
            <a:avLst>
              <a:gd name="adj" fmla="val 6716"/>
            </a:avLst>
          </a:prstGeom>
          <a:solidFill>
            <a:srgbClr val="FFF8E6"/>
          </a:solidFill>
          <a:ln/>
        </p:spPr>
      </p:sp>
      <p:sp>
        <p:nvSpPr>
          <p:cNvPr id="4" name="Shape 2"/>
          <p:cNvSpPr/>
          <p:nvPr/>
        </p:nvSpPr>
        <p:spPr>
          <a:xfrm>
            <a:off x="1066774" y="2258950"/>
            <a:ext cx="685774" cy="685774"/>
          </a:xfrm>
          <a:prstGeom prst="roundRect">
            <a:avLst>
              <a:gd name="adj" fmla="val 30557"/>
            </a:avLst>
          </a:prstGeom>
          <a:solidFill>
            <a:srgbClr val="FFB40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8673" y="2420848"/>
            <a:ext cx="361846" cy="3618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6774" y="4545081"/>
            <a:ext cx="3073495" cy="28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Первый тезис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066774" y="4907831"/>
            <a:ext cx="2877909" cy="769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Пояснение в две-три строки: что именно происходит и почему это важно.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94183" y="1954178"/>
            <a:ext cx="3403635" cy="3989500"/>
          </a:xfrm>
          <a:prstGeom prst="roundRect">
            <a:avLst>
              <a:gd name="adj" fmla="val 6716"/>
            </a:avLst>
          </a:prstGeom>
          <a:solidFill>
            <a:srgbClr val="E6F8FB"/>
          </a:solidFill>
          <a:ln/>
        </p:spPr>
      </p:sp>
      <p:sp>
        <p:nvSpPr>
          <p:cNvPr id="9" name="Shape 6"/>
          <p:cNvSpPr/>
          <p:nvPr/>
        </p:nvSpPr>
        <p:spPr>
          <a:xfrm>
            <a:off x="4698957" y="2258950"/>
            <a:ext cx="685774" cy="685774"/>
          </a:xfrm>
          <a:prstGeom prst="roundRect">
            <a:avLst>
              <a:gd name="adj" fmla="val 30557"/>
            </a:avLst>
          </a:prstGeom>
          <a:solidFill>
            <a:srgbClr val="00B9D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0856" y="2420848"/>
            <a:ext cx="361846" cy="36184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98957" y="4545081"/>
            <a:ext cx="3073495" cy="28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Второй тезис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4698957" y="4907831"/>
            <a:ext cx="2877909" cy="769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Пояснение в две-три строки: что именно происходит и почему это важно.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026366" y="1954178"/>
            <a:ext cx="3403635" cy="3989500"/>
          </a:xfrm>
          <a:prstGeom prst="roundRect">
            <a:avLst>
              <a:gd name="adj" fmla="val 6716"/>
            </a:avLst>
          </a:prstGeom>
          <a:solidFill>
            <a:srgbClr val="F2EBFF"/>
          </a:solidFill>
          <a:ln/>
        </p:spPr>
      </p:sp>
      <p:sp>
        <p:nvSpPr>
          <p:cNvPr id="14" name="Shape 10"/>
          <p:cNvSpPr/>
          <p:nvPr/>
        </p:nvSpPr>
        <p:spPr>
          <a:xfrm>
            <a:off x="8331140" y="2258950"/>
            <a:ext cx="685774" cy="685774"/>
          </a:xfrm>
          <a:prstGeom prst="roundRect">
            <a:avLst>
              <a:gd name="adj" fmla="val 30557"/>
            </a:avLst>
          </a:prstGeom>
          <a:solidFill>
            <a:srgbClr val="8037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3039" y="2420848"/>
            <a:ext cx="361846" cy="36184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31140" y="4545081"/>
            <a:ext cx="3073495" cy="28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Третий тезис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8331140" y="4907831"/>
            <a:ext cx="2877909" cy="769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Пояснение в две-три строки: что именно происходит и почему это важно.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62000" y="630306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19" name="Text 14"/>
          <p:cNvSpPr/>
          <p:nvPr/>
        </p:nvSpPr>
        <p:spPr>
          <a:xfrm>
            <a:off x="11223712" y="6303066"/>
            <a:ext cx="282489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262451" cy="326128"/>
          </a:xfrm>
          <a:prstGeom prst="roundRect">
            <a:avLst>
              <a:gd name="adj" fmla="val 50000"/>
            </a:avLst>
          </a:prstGeom>
          <a:solidFill>
            <a:srgbClr val="E6F8FB"/>
          </a:solidFill>
          <a:ln/>
        </p:spPr>
      </p:sp>
      <p:sp>
        <p:nvSpPr>
          <p:cNvPr id="3" name="Text 1"/>
          <p:cNvSpPr/>
          <p:nvPr/>
        </p:nvSpPr>
        <p:spPr>
          <a:xfrm>
            <a:off x="933450" y="838200"/>
            <a:ext cx="995751" cy="211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8" kern="0" dirty="0">
                <a:solidFill>
                  <a:srgbClr val="00B9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РЕШЕНИЕ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" y="1278629"/>
            <a:ext cx="4709160" cy="1483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Текст слева, изображение справа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62000" y="2914576"/>
            <a:ext cx="4709160" cy="88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620"/>
              </a:lnSpc>
              <a:buNone/>
            </a:pPr>
            <a:r>
              <a:rPr lang="en-US" sz="1350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Основной абзац: описание продукта или сценария. Держите 2–4 строки, остальное — в списке ниже.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2000" y="4090448"/>
            <a:ext cx="76096" cy="76096"/>
          </a:xfrm>
          <a:prstGeom prst="ellipse">
            <a:avLst/>
          </a:prstGeom>
          <a:solidFill>
            <a:srgbClr val="00B9D2"/>
          </a:solidFill>
          <a:ln/>
        </p:spPr>
      </p:sp>
      <p:sp>
        <p:nvSpPr>
          <p:cNvPr id="7" name="Text 5"/>
          <p:cNvSpPr/>
          <p:nvPr/>
        </p:nvSpPr>
        <p:spPr>
          <a:xfrm>
            <a:off x="952371" y="4029801"/>
            <a:ext cx="1910236" cy="235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Первый пункт списка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762000" y="4403503"/>
            <a:ext cx="76096" cy="76096"/>
          </a:xfrm>
          <a:prstGeom prst="ellipse">
            <a:avLst/>
          </a:prstGeom>
          <a:solidFill>
            <a:srgbClr val="00B9D2"/>
          </a:solidFill>
          <a:ln/>
        </p:spPr>
      </p:sp>
      <p:sp>
        <p:nvSpPr>
          <p:cNvPr id="9" name="Text 7"/>
          <p:cNvSpPr/>
          <p:nvPr/>
        </p:nvSpPr>
        <p:spPr>
          <a:xfrm>
            <a:off x="952371" y="4342860"/>
            <a:ext cx="1851015" cy="235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Второй пункт списка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762000" y="4716559"/>
            <a:ext cx="76096" cy="76096"/>
          </a:xfrm>
          <a:prstGeom prst="ellipse">
            <a:avLst/>
          </a:prstGeom>
          <a:solidFill>
            <a:srgbClr val="00B9D2"/>
          </a:solidFill>
          <a:ln/>
        </p:spPr>
      </p:sp>
      <p:sp>
        <p:nvSpPr>
          <p:cNvPr id="11" name="Text 9"/>
          <p:cNvSpPr/>
          <p:nvPr/>
        </p:nvSpPr>
        <p:spPr>
          <a:xfrm>
            <a:off x="952371" y="4655916"/>
            <a:ext cx="1828318" cy="235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Третий пункт списка</a:t>
            </a:r>
            <a:endParaRPr lang="en-US" sz="127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20531" r="20531" t="0" b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62000" y="630306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11237430" y="6303066"/>
            <a:ext cx="268771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6">
                  <a:alpha val="100000"/>
                </a:srgbClr>
              </a:gs>
              <a:gs pos="46000">
                <a:srgbClr val="FFFDF6">
                  <a:alpha val="100000"/>
                </a:srgbClr>
              </a:gs>
              <a:gs pos="100000">
                <a:srgbClr val="E6F8FB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762000" y="609544"/>
            <a:ext cx="11734800" cy="519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Ключевые метрики за период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2000" y="1548454"/>
            <a:ext cx="2478571" cy="1802632"/>
          </a:xfrm>
          <a:prstGeom prst="roundRect">
            <a:avLst>
              <a:gd name="adj" fmla="val 1268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66774" y="1853231"/>
            <a:ext cx="2055925" cy="647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697"/>
              </a:lnSpc>
              <a:buNone/>
            </a:pPr>
            <a:r>
              <a:rPr lang="en-US" sz="4800" b="1" spc="-96" kern="0" dirty="0">
                <a:solidFill>
                  <a:srgbClr val="FFB4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2,4×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66774" y="2577052"/>
            <a:ext cx="1945223" cy="507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15"/>
              </a:lnSpc>
              <a:buNone/>
            </a:pPr>
            <a:r>
              <a:rPr lang="en-US" sz="127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Рост показателя за год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3431071" y="1548454"/>
            <a:ext cx="2478700" cy="1802632"/>
          </a:xfrm>
          <a:prstGeom prst="roundRect">
            <a:avLst>
              <a:gd name="adj" fmla="val 1268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735845" y="1853231"/>
            <a:ext cx="2056067" cy="647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697"/>
              </a:lnSpc>
              <a:buNone/>
            </a:pPr>
            <a:r>
              <a:rPr lang="en-US" sz="4800" b="1" spc="-96" kern="0" dirty="0">
                <a:solidFill>
                  <a:srgbClr val="00B9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98%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735845" y="2577052"/>
            <a:ext cx="1945352" cy="507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15"/>
              </a:lnSpc>
              <a:buNone/>
            </a:pPr>
            <a:r>
              <a:rPr lang="en-US" sz="127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Доля довольных пользователей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6100271" y="1548454"/>
            <a:ext cx="2660529" cy="1802632"/>
          </a:xfrm>
          <a:prstGeom prst="roundRect">
            <a:avLst>
              <a:gd name="adj" fmla="val 1268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5045" y="1853231"/>
            <a:ext cx="2256079" cy="647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697"/>
              </a:lnSpc>
              <a:buNone/>
            </a:pPr>
            <a:r>
              <a:rPr lang="en-US" sz="4800" b="1" spc="-96" kern="0" dirty="0">
                <a:solidFill>
                  <a:srgbClr val="8037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мин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5045" y="2577052"/>
            <a:ext cx="2127181" cy="507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15"/>
              </a:lnSpc>
              <a:buNone/>
            </a:pPr>
            <a:r>
              <a:rPr lang="en-US" sz="127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Среднее время до ответа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8951300" y="1548454"/>
            <a:ext cx="2478571" cy="1802632"/>
          </a:xfrm>
          <a:prstGeom prst="roundRect">
            <a:avLst>
              <a:gd name="adj" fmla="val 1268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256075" y="1853231"/>
            <a:ext cx="2055925" cy="647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697"/>
              </a:lnSpc>
              <a:buNone/>
            </a:pPr>
            <a:r>
              <a:rPr lang="en-US" sz="4800" b="1" spc="-96" kern="0" dirty="0">
                <a:solidFill>
                  <a:srgbClr val="23D3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+41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256075" y="2577052"/>
            <a:ext cx="1945223" cy="507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15"/>
              </a:lnSpc>
              <a:buNone/>
            </a:pPr>
            <a:r>
              <a:rPr lang="en-US" sz="127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NPS по итогам квартала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762000" y="3808186"/>
            <a:ext cx="10668000" cy="792154"/>
          </a:xfrm>
          <a:prstGeom prst="roundRect">
            <a:avLst>
              <a:gd name="adj" fmla="val 28858"/>
            </a:avLst>
          </a:prstGeom>
          <a:solidFill>
            <a:srgbClr val="373660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4074886"/>
            <a:ext cx="10378440" cy="296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333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Каждый шаг замкнут в цикл: отзыв уточняет подбор, поэтому качество рекомендаций растёт с каждым приёмом.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762000" y="6303062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1231217" y="6303062"/>
            <a:ext cx="274983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0" r="3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373660">
                  <a:alpha val="88000"/>
                </a:srgbClr>
              </a:gs>
              <a:gs pos="60000">
                <a:srgbClr val="373660">
                  <a:alpha val="25000"/>
                </a:srgbClr>
              </a:gs>
              <a:gs pos="100000">
                <a:srgbClr val="373660">
                  <a:alpha val="0"/>
                </a:srgbClr>
              </a:gs>
            </a:gsLst>
            <a:lin ang="162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762000" y="3342163"/>
            <a:ext cx="2623516" cy="704669"/>
          </a:xfrm>
          <a:prstGeom prst="roundRect">
            <a:avLst>
              <a:gd name="adj" fmla="val 189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24" y="3475462"/>
            <a:ext cx="2204468" cy="4380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4237332"/>
            <a:ext cx="7456170" cy="1127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11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Полноэкранное фото с заголовком</a:t>
            </a:r>
            <a:endParaRPr lang="en-US" sz="3900" dirty="0"/>
          </a:p>
        </p:txBody>
      </p:sp>
      <p:sp>
        <p:nvSpPr>
          <p:cNvPr id="7" name="Text 3"/>
          <p:cNvSpPr/>
          <p:nvPr/>
        </p:nvSpPr>
        <p:spPr>
          <a:xfrm>
            <a:off x="762000" y="5517254"/>
            <a:ext cx="6082665" cy="616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462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фото логотип всегда ставится на белую плашку — так знак сохраняет контраст и охранное поле.</a:t>
            </a:r>
            <a:endParaRPr lang="en-US" sz="1425" dirty="0"/>
          </a:p>
        </p:txBody>
      </p:sp>
      <p:sp>
        <p:nvSpPr>
          <p:cNvPr id="8" name="Text 4"/>
          <p:cNvSpPr/>
          <p:nvPr/>
        </p:nvSpPr>
        <p:spPr>
          <a:xfrm>
            <a:off x="762000" y="630306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9" name="Text 5"/>
          <p:cNvSpPr/>
          <p:nvPr/>
        </p:nvSpPr>
        <p:spPr>
          <a:xfrm>
            <a:off x="11235230" y="6303066"/>
            <a:ext cx="270971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C93F">
                  <a:alpha val="100000"/>
                </a:srgbClr>
              </a:gs>
              <a:gs pos="58000">
                <a:srgbClr val="FFB401">
                  <a:alpha val="100000"/>
                </a:srgbClr>
              </a:gs>
              <a:gs pos="100000">
                <a:srgbClr val="FFA200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762000" y="1506141"/>
            <a:ext cx="11734800" cy="838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10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762000" y="2649015"/>
            <a:ext cx="8829676" cy="15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424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Короткая цитата или сильное утверждение — не больше трёх строк, чтобы слайд читался за пять секунд.</a:t>
            </a:r>
            <a:endParaRPr lang="en-US" sz="3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16688" r="16688" t="0" b="0"/>
          <a:stretch/>
        </p:blipFill>
        <p:spPr>
          <a:xfrm>
            <a:off x="762000" y="4551815"/>
            <a:ext cx="495274" cy="495274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9596" y="4608886"/>
            <a:ext cx="1801247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Имя Фамилия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409596" y="4815953"/>
            <a:ext cx="1801247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8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Должность, компания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762000" y="630306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11227077" y="6303066"/>
            <a:ext cx="279124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49"/>
            <a:ext cx="11734800" cy="519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Дорожная карта по кварталам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3286516"/>
            <a:ext cx="2524125" cy="1158271"/>
          </a:xfrm>
          <a:prstGeom prst="roundRect">
            <a:avLst>
              <a:gd name="adj" fmla="val 16447"/>
            </a:avLst>
          </a:prstGeom>
          <a:solidFill>
            <a:srgbClr val="FFF8E6"/>
          </a:solidFill>
          <a:ln/>
        </p:spPr>
      </p:sp>
      <p:sp>
        <p:nvSpPr>
          <p:cNvPr id="4" name="Text 2"/>
          <p:cNvSpPr/>
          <p:nvPr/>
        </p:nvSpPr>
        <p:spPr>
          <a:xfrm>
            <a:off x="971524" y="3496038"/>
            <a:ext cx="2315585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B4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 · Запуск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71524" y="3746069"/>
            <a:ext cx="2315585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MVP и первые клиники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71524" y="4020950"/>
            <a:ext cx="231558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14"/>
              </a:lnSpc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Онбординг 10 партнёров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3476625" y="2340099"/>
            <a:ext cx="2524125" cy="1571366"/>
          </a:xfrm>
          <a:prstGeom prst="roundRect">
            <a:avLst>
              <a:gd name="adj" fmla="val 12123"/>
            </a:avLst>
          </a:prstGeom>
          <a:solidFill>
            <a:srgbClr val="E6F8FB"/>
          </a:solidFill>
          <a:ln/>
        </p:spPr>
      </p:sp>
      <p:sp>
        <p:nvSpPr>
          <p:cNvPr id="8" name="Text 6"/>
          <p:cNvSpPr/>
          <p:nvPr/>
        </p:nvSpPr>
        <p:spPr>
          <a:xfrm>
            <a:off x="3686149" y="2549621"/>
            <a:ext cx="2315585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B9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 · Рост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686149" y="2799652"/>
            <a:ext cx="2181277" cy="435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Мобильное приложение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3686149" y="3273316"/>
            <a:ext cx="218127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14"/>
              </a:lnSpc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iOS и Android, оплата онлайн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6191250" y="3072203"/>
            <a:ext cx="2524125" cy="1372584"/>
          </a:xfrm>
          <a:prstGeom prst="roundRect">
            <a:avLst>
              <a:gd name="adj" fmla="val 13879"/>
            </a:avLst>
          </a:prstGeom>
          <a:solidFill>
            <a:srgbClr val="F2EB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774" y="3281725"/>
            <a:ext cx="2315585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8037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 · Масштаб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6400774" y="3531757"/>
            <a:ext cx="2315585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Регионы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6400774" y="3806637"/>
            <a:ext cx="218127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14"/>
              </a:lnSpc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городов, партнёрская сеть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8905875" y="2753190"/>
            <a:ext cx="2524125" cy="1158271"/>
          </a:xfrm>
          <a:prstGeom prst="roundRect">
            <a:avLst>
              <a:gd name="adj" fmla="val 16447"/>
            </a:avLst>
          </a:prstGeom>
          <a:solidFill>
            <a:srgbClr val="E9FAF0"/>
          </a:solidFill>
          <a:ln/>
        </p:spPr>
      </p:sp>
      <p:sp>
        <p:nvSpPr>
          <p:cNvPr id="16" name="Text 14"/>
          <p:cNvSpPr/>
          <p:nvPr/>
        </p:nvSpPr>
        <p:spPr>
          <a:xfrm>
            <a:off x="9115399" y="2962717"/>
            <a:ext cx="2315585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3D3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Q4 · Платформа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9115399" y="3212748"/>
            <a:ext cx="2315585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и B2B-кабинет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9115399" y="3487629"/>
            <a:ext cx="231558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14"/>
              </a:lnSpc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Интеграции со страховыми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762000" y="4654311"/>
            <a:ext cx="10668000" cy="38048"/>
          </a:xfrm>
          <a:prstGeom prst="roundRect">
            <a:avLst>
              <a:gd name="adj" fmla="val 50000"/>
            </a:avLst>
          </a:prstGeom>
          <a:solidFill>
            <a:srgbClr val="D7D7DF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4654311"/>
            <a:ext cx="4053819" cy="38048"/>
          </a:xfrm>
          <a:prstGeom prst="roundRect">
            <a:avLst>
              <a:gd name="adj" fmla="val 50000"/>
            </a:avLst>
          </a:prstGeom>
          <a:solidFill>
            <a:srgbClr val="FFB401"/>
          </a:solidFill>
          <a:ln/>
        </p:spPr>
      </p:sp>
      <p:sp>
        <p:nvSpPr>
          <p:cNvPr id="21" name="Shape 19"/>
          <p:cNvSpPr/>
          <p:nvPr/>
        </p:nvSpPr>
        <p:spPr>
          <a:xfrm>
            <a:off x="2019274" y="4597236"/>
            <a:ext cx="152322" cy="152322"/>
          </a:xfrm>
          <a:prstGeom prst="ellipse">
            <a:avLst/>
          </a:prstGeom>
          <a:solidFill>
            <a:srgbClr val="FFB40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6274" y="4597236"/>
            <a:ext cx="152322" cy="152322"/>
          </a:xfrm>
          <a:prstGeom prst="ellipse">
            <a:avLst/>
          </a:prstGeom>
          <a:solidFill>
            <a:srgbClr val="00B9D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53274" y="4597236"/>
            <a:ext cx="152322" cy="152322"/>
          </a:xfrm>
          <a:prstGeom prst="ellipse">
            <a:avLst/>
          </a:prstGeom>
          <a:solidFill>
            <a:srgbClr val="8037F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20274" y="4597236"/>
            <a:ext cx="152322" cy="152322"/>
          </a:xfrm>
          <a:prstGeom prst="ellipse">
            <a:avLst/>
          </a:prstGeom>
          <a:solidFill>
            <a:srgbClr val="23D37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650" y="4863703"/>
            <a:ext cx="293370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янв — мар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3295650" y="4863703"/>
            <a:ext cx="293370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апр — июн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5962650" y="4863703"/>
            <a:ext cx="293370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июл — сен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8629650" y="4863703"/>
            <a:ext cx="293370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окт — дек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762000" y="630306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1231217" y="6303066"/>
            <a:ext cx="274983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49"/>
            <a:ext cx="5733869" cy="519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Выручка по кварталам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0139855" y="639314"/>
            <a:ext cx="114274" cy="114274"/>
          </a:xfrm>
          <a:prstGeom prst="roundRect">
            <a:avLst>
              <a:gd name="adj" fmla="val 25006"/>
            </a:avLst>
          </a:prstGeom>
          <a:solidFill>
            <a:srgbClr val="00B9D2"/>
          </a:solidFill>
          <a:ln/>
        </p:spPr>
      </p:sp>
      <p:sp>
        <p:nvSpPr>
          <p:cNvPr id="4" name="Text 2"/>
          <p:cNvSpPr/>
          <p:nvPr/>
        </p:nvSpPr>
        <p:spPr>
          <a:xfrm>
            <a:off x="10330225" y="609433"/>
            <a:ext cx="413623" cy="212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10896290" y="639314"/>
            <a:ext cx="114274" cy="114274"/>
          </a:xfrm>
          <a:prstGeom prst="roundRect">
            <a:avLst>
              <a:gd name="adj" fmla="val 25006"/>
            </a:avLst>
          </a:prstGeom>
          <a:solidFill>
            <a:srgbClr val="FFB401"/>
          </a:solidFill>
          <a:ln/>
        </p:spPr>
      </p:sp>
      <p:sp>
        <p:nvSpPr>
          <p:cNvPr id="6" name="Text 4"/>
          <p:cNvSpPr/>
          <p:nvPr/>
        </p:nvSpPr>
        <p:spPr>
          <a:xfrm>
            <a:off x="11086660" y="609433"/>
            <a:ext cx="419520" cy="212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85800" y="1396138"/>
            <a:ext cx="60952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600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85800" y="2298427"/>
            <a:ext cx="60952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450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85800" y="3200712"/>
            <a:ext cx="60952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85800" y="4102996"/>
            <a:ext cx="60952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85800" y="5005285"/>
            <a:ext cx="60952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1447645" y="1396138"/>
            <a:ext cx="9982356" cy="9525"/>
          </a:xfrm>
          <a:prstGeom prst="rect">
            <a:avLst/>
          </a:prstGeom>
          <a:solidFill>
            <a:srgbClr val="ECECF2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645" y="2339448"/>
            <a:ext cx="9982356" cy="9525"/>
          </a:xfrm>
          <a:prstGeom prst="rect">
            <a:avLst/>
          </a:prstGeom>
          <a:solidFill>
            <a:srgbClr val="ECECF2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645" y="3282762"/>
            <a:ext cx="9982356" cy="9525"/>
          </a:xfrm>
          <a:prstGeom prst="rect">
            <a:avLst/>
          </a:prstGeom>
          <a:solidFill>
            <a:srgbClr val="ECECF2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645" y="4226072"/>
            <a:ext cx="9982356" cy="9525"/>
          </a:xfrm>
          <a:prstGeom prst="rect">
            <a:avLst/>
          </a:prstGeom>
          <a:solidFill>
            <a:srgbClr val="ECECF2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7645" y="5169382"/>
            <a:ext cx="9982356" cy="9525"/>
          </a:xfrm>
          <a:prstGeom prst="rect">
            <a:avLst/>
          </a:prstGeom>
          <a:solidFill>
            <a:srgbClr val="D7D7DF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7322" y="4125260"/>
            <a:ext cx="419048" cy="958712"/>
          </a:xfrm>
          <a:custGeom>
            <a:avLst/>
            <a:gdLst/>
            <a:ahLst/>
            <a:cxnLst/>
            <a:rect l="l" t="t" r="r" b="b"/>
            <a:pathLst>
              <a:path w="419048" h="958712">
                <a:moveTo>
                  <a:pt x="76200" y="0"/>
                </a:moveTo>
                <a:lnTo>
                  <a:pt x="342848" y="0"/>
                </a:lnTo>
                <a:arcTo hR="76200" wR="76200" stAng="16200000" swAng="5400000"/>
                <a:lnTo>
                  <a:pt x="419048" y="958712"/>
                </a:lnTo>
                <a:lnTo>
                  <a:pt x="0" y="958712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gradFill rotWithShape="1">
            <a:gsLst>
              <a:gs pos="0">
                <a:srgbClr val="33CADD">
                  <a:alpha val="100000"/>
                </a:srgbClr>
              </a:gs>
              <a:gs pos="55000">
                <a:srgbClr val="00B9D2">
                  <a:alpha val="100000"/>
                </a:srgbClr>
              </a:gs>
              <a:gs pos="100000">
                <a:srgbClr val="0097AB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8" name="Shape 16"/>
          <p:cNvSpPr/>
          <p:nvPr/>
        </p:nvSpPr>
        <p:spPr>
          <a:xfrm>
            <a:off x="2571621" y="3608887"/>
            <a:ext cx="419048" cy="1475081"/>
          </a:xfrm>
          <a:custGeom>
            <a:avLst/>
            <a:gdLst/>
            <a:ahLst/>
            <a:cxnLst/>
            <a:rect l="l" t="t" r="r" b="b"/>
            <a:pathLst>
              <a:path w="419048" h="1475081">
                <a:moveTo>
                  <a:pt x="76200" y="0"/>
                </a:moveTo>
                <a:lnTo>
                  <a:pt x="342848" y="0"/>
                </a:lnTo>
                <a:arcTo hR="76200" wR="76200" stAng="16200000" swAng="5400000"/>
                <a:lnTo>
                  <a:pt x="419048" y="1475081"/>
                </a:lnTo>
                <a:lnTo>
                  <a:pt x="0" y="1475081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gradFill rotWithShape="1">
            <a:gsLst>
              <a:gs pos="0">
                <a:srgbClr val="FFCB4D">
                  <a:alpha val="100000"/>
                </a:srgbClr>
              </a:gs>
              <a:gs pos="55000">
                <a:srgbClr val="FFB401">
                  <a:alpha val="100000"/>
                </a:srgbClr>
              </a:gs>
              <a:gs pos="100000">
                <a:srgbClr val="E89A00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9" name="Shape 17"/>
          <p:cNvSpPr/>
          <p:nvPr/>
        </p:nvSpPr>
        <p:spPr>
          <a:xfrm>
            <a:off x="4667121" y="3830189"/>
            <a:ext cx="419048" cy="1253780"/>
          </a:xfrm>
          <a:custGeom>
            <a:avLst/>
            <a:gdLst/>
            <a:ahLst/>
            <a:cxnLst/>
            <a:rect l="l" t="t" r="r" b="b"/>
            <a:pathLst>
              <a:path w="419048" h="1253780">
                <a:moveTo>
                  <a:pt x="76200" y="0"/>
                </a:moveTo>
                <a:lnTo>
                  <a:pt x="342848" y="0"/>
                </a:lnTo>
                <a:arcTo hR="76200" wR="76200" stAng="16200000" swAng="5400000"/>
                <a:lnTo>
                  <a:pt x="419048" y="1253780"/>
                </a:lnTo>
                <a:lnTo>
                  <a:pt x="0" y="1253780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gradFill rotWithShape="1">
            <a:gsLst>
              <a:gs pos="0">
                <a:srgbClr val="33CADD">
                  <a:alpha val="100000"/>
                </a:srgbClr>
              </a:gs>
              <a:gs pos="55000">
                <a:srgbClr val="00B9D2">
                  <a:alpha val="100000"/>
                </a:srgbClr>
              </a:gs>
              <a:gs pos="100000">
                <a:srgbClr val="0097AB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0" name="Shape 18"/>
          <p:cNvSpPr/>
          <p:nvPr/>
        </p:nvSpPr>
        <p:spPr>
          <a:xfrm>
            <a:off x="5181419" y="3055767"/>
            <a:ext cx="419048" cy="2028204"/>
          </a:xfrm>
          <a:custGeom>
            <a:avLst/>
            <a:gdLst/>
            <a:ahLst/>
            <a:cxnLst/>
            <a:rect l="l" t="t" r="r" b="b"/>
            <a:pathLst>
              <a:path w="419048" h="2028204">
                <a:moveTo>
                  <a:pt x="76200" y="0"/>
                </a:moveTo>
                <a:lnTo>
                  <a:pt x="342848" y="0"/>
                </a:lnTo>
                <a:arcTo hR="76200" wR="76200" stAng="16200000" swAng="5400000"/>
                <a:lnTo>
                  <a:pt x="419048" y="2028204"/>
                </a:lnTo>
                <a:lnTo>
                  <a:pt x="0" y="2028204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gradFill rotWithShape="1">
            <a:gsLst>
              <a:gs pos="0">
                <a:srgbClr val="FFCB4D">
                  <a:alpha val="100000"/>
                </a:srgbClr>
              </a:gs>
              <a:gs pos="55000">
                <a:srgbClr val="FFB401">
                  <a:alpha val="100000"/>
                </a:srgbClr>
              </a:gs>
              <a:gs pos="100000">
                <a:srgbClr val="E89A00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1" name="Shape 19"/>
          <p:cNvSpPr/>
          <p:nvPr/>
        </p:nvSpPr>
        <p:spPr>
          <a:xfrm>
            <a:off x="7277048" y="3424470"/>
            <a:ext cx="419048" cy="1659498"/>
          </a:xfrm>
          <a:custGeom>
            <a:avLst/>
            <a:gdLst/>
            <a:ahLst/>
            <a:cxnLst/>
            <a:rect l="l" t="t" r="r" b="b"/>
            <a:pathLst>
              <a:path w="419048" h="1659498">
                <a:moveTo>
                  <a:pt x="76200" y="0"/>
                </a:moveTo>
                <a:lnTo>
                  <a:pt x="342848" y="0"/>
                </a:lnTo>
                <a:arcTo hR="76200" wR="76200" stAng="16200000" swAng="5400000"/>
                <a:lnTo>
                  <a:pt x="419048" y="1659498"/>
                </a:lnTo>
                <a:lnTo>
                  <a:pt x="0" y="1659498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gradFill rotWithShape="1">
            <a:gsLst>
              <a:gs pos="0">
                <a:srgbClr val="33CADD">
                  <a:alpha val="100000"/>
                </a:srgbClr>
              </a:gs>
              <a:gs pos="55000">
                <a:srgbClr val="00B9D2">
                  <a:alpha val="100000"/>
                </a:srgbClr>
              </a:gs>
              <a:gs pos="100000">
                <a:srgbClr val="0097AB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2" name="Shape 20"/>
          <p:cNvSpPr/>
          <p:nvPr/>
        </p:nvSpPr>
        <p:spPr>
          <a:xfrm>
            <a:off x="7791347" y="2428745"/>
            <a:ext cx="419048" cy="2655223"/>
          </a:xfrm>
          <a:custGeom>
            <a:avLst/>
            <a:gdLst/>
            <a:ahLst/>
            <a:cxnLst/>
            <a:rect l="l" t="t" r="r" b="b"/>
            <a:pathLst>
              <a:path w="419048" h="2655223">
                <a:moveTo>
                  <a:pt x="76200" y="0"/>
                </a:moveTo>
                <a:lnTo>
                  <a:pt x="342848" y="0"/>
                </a:lnTo>
                <a:arcTo hR="76200" wR="76200" stAng="16200000" swAng="5400000"/>
                <a:lnTo>
                  <a:pt x="419048" y="2655223"/>
                </a:lnTo>
                <a:lnTo>
                  <a:pt x="0" y="2655223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gradFill rotWithShape="1">
            <a:gsLst>
              <a:gs pos="0">
                <a:srgbClr val="FFCB4D">
                  <a:alpha val="100000"/>
                </a:srgbClr>
              </a:gs>
              <a:gs pos="55000">
                <a:srgbClr val="FFB401">
                  <a:alpha val="100000"/>
                </a:srgbClr>
              </a:gs>
              <a:gs pos="100000">
                <a:srgbClr val="E89A00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3" name="Shape 21"/>
          <p:cNvSpPr/>
          <p:nvPr/>
        </p:nvSpPr>
        <p:spPr>
          <a:xfrm>
            <a:off x="9886847" y="3166416"/>
            <a:ext cx="419048" cy="1917553"/>
          </a:xfrm>
          <a:custGeom>
            <a:avLst/>
            <a:gdLst/>
            <a:ahLst/>
            <a:cxnLst/>
            <a:rect l="l" t="t" r="r" b="b"/>
            <a:pathLst>
              <a:path w="419048" h="1917553">
                <a:moveTo>
                  <a:pt x="76200" y="0"/>
                </a:moveTo>
                <a:lnTo>
                  <a:pt x="342848" y="0"/>
                </a:lnTo>
                <a:arcTo hR="76200" wR="76200" stAng="16200000" swAng="5400000"/>
                <a:lnTo>
                  <a:pt x="419048" y="1917553"/>
                </a:lnTo>
                <a:lnTo>
                  <a:pt x="0" y="1917553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gradFill rotWithShape="1">
            <a:gsLst>
              <a:gs pos="0">
                <a:srgbClr val="33CADD">
                  <a:alpha val="100000"/>
                </a:srgbClr>
              </a:gs>
              <a:gs pos="55000">
                <a:srgbClr val="00B9D2">
                  <a:alpha val="100000"/>
                </a:srgbClr>
              </a:gs>
              <a:gs pos="100000">
                <a:srgbClr val="0097AB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4" name="Shape 22"/>
          <p:cNvSpPr/>
          <p:nvPr/>
        </p:nvSpPr>
        <p:spPr>
          <a:xfrm>
            <a:off x="10401145" y="1691208"/>
            <a:ext cx="419048" cy="3392764"/>
          </a:xfrm>
          <a:custGeom>
            <a:avLst/>
            <a:gdLst/>
            <a:ahLst/>
            <a:cxnLst/>
            <a:rect l="l" t="t" r="r" b="b"/>
            <a:pathLst>
              <a:path w="419048" h="3392764">
                <a:moveTo>
                  <a:pt x="76200" y="0"/>
                </a:moveTo>
                <a:lnTo>
                  <a:pt x="342848" y="0"/>
                </a:lnTo>
                <a:arcTo hR="76200" wR="76200" stAng="16200000" swAng="5400000"/>
                <a:lnTo>
                  <a:pt x="419048" y="3392764"/>
                </a:lnTo>
                <a:lnTo>
                  <a:pt x="0" y="3392764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gradFill rotWithShape="1">
            <a:gsLst>
              <a:gs pos="0">
                <a:srgbClr val="FFCB4D">
                  <a:alpha val="100000"/>
                </a:srgbClr>
              </a:gs>
              <a:gs pos="55000">
                <a:srgbClr val="FFB401">
                  <a:alpha val="100000"/>
                </a:srgbClr>
              </a:gs>
              <a:gs pos="100000">
                <a:srgbClr val="E89A00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5" name="Text 23"/>
          <p:cNvSpPr/>
          <p:nvPr/>
        </p:nvSpPr>
        <p:spPr>
          <a:xfrm>
            <a:off x="1409545" y="5179219"/>
            <a:ext cx="22289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4019343" y="5179219"/>
            <a:ext cx="22290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6629271" y="5179219"/>
            <a:ext cx="22289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9239069" y="5179219"/>
            <a:ext cx="22290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Q4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762000" y="5769745"/>
            <a:ext cx="1173480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млн ₽ · рост 2026 к 2025 — </a:t>
            </a:r>
            <a:pPr algn="l" indent="0" marL="0">
              <a:buNone/>
            </a:pPr>
            <a:r>
              <a:rPr lang="en-US" sz="112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+77%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762000" y="630306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11266678" y="6303066"/>
            <a:ext cx="239523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49"/>
            <a:ext cx="9046667" cy="519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Динамика активных пользователей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9229156" y="609549"/>
            <a:ext cx="2200844" cy="916652"/>
          </a:xfrm>
          <a:prstGeom prst="roundRect">
            <a:avLst>
              <a:gd name="adj" fmla="val 18704"/>
            </a:avLst>
          </a:prstGeom>
          <a:solidFill>
            <a:srgbClr val="FFF8E6"/>
          </a:solidFill>
          <a:ln/>
        </p:spPr>
      </p:sp>
      <p:sp>
        <p:nvSpPr>
          <p:cNvPr id="4" name="Text 2"/>
          <p:cNvSpPr/>
          <p:nvPr/>
        </p:nvSpPr>
        <p:spPr>
          <a:xfrm>
            <a:off x="9283329" y="761870"/>
            <a:ext cx="191812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0702"/>
              </a:lnSpc>
              <a:buNone/>
            </a:pPr>
            <a:r>
              <a:rPr lang="en-US" sz="3000" b="1" dirty="0">
                <a:solidFill>
                  <a:srgbClr val="FFB4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480K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283329" y="1199945"/>
            <a:ext cx="1918123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MAU на конец периода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85800" y="1830977"/>
            <a:ext cx="60952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500K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85800" y="2624551"/>
            <a:ext cx="60952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375K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85800" y="3418131"/>
            <a:ext cx="60952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250K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85800" y="4211706"/>
            <a:ext cx="60952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125K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85800" y="5005285"/>
            <a:ext cx="60952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1447645" y="5074446"/>
            <a:ext cx="9982356" cy="9525"/>
          </a:xfrm>
          <a:prstGeom prst="rect">
            <a:avLst/>
          </a:prstGeom>
          <a:solidFill>
            <a:srgbClr val="D7D7DF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645" y="1830977"/>
            <a:ext cx="9982356" cy="9525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645" y="2909395"/>
            <a:ext cx="9982356" cy="9525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645" y="3987817"/>
            <a:ext cx="9982356" cy="9525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645" y="5066240"/>
            <a:ext cx="9982356" cy="9525"/>
          </a:xfrm>
          <a:prstGeom prst="rect">
            <a:avLst/>
          </a:prstGeom>
          <a:solidFill>
            <a:srgbClr val="EDEDF2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7645" y="1830977"/>
            <a:ext cx="9982356" cy="32447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47645" y="5179219"/>
            <a:ext cx="132389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 25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2695342" y="5179219"/>
            <a:ext cx="13240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3943169" y="5179219"/>
            <a:ext cx="13240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5190996" y="5179219"/>
            <a:ext cx="13240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Q4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6438823" y="5179219"/>
            <a:ext cx="132389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 26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7686520" y="5179219"/>
            <a:ext cx="13240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8934347" y="5179219"/>
            <a:ext cx="13240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10105973" y="5179219"/>
            <a:ext cx="13240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Q4</a:t>
            </a:r>
            <a:endParaRPr lang="en-US" sz="1125" dirty="0"/>
          </a:p>
        </p:txBody>
      </p:sp>
      <p:sp>
        <p:nvSpPr>
          <p:cNvPr id="25" name="Shape 22"/>
          <p:cNvSpPr/>
          <p:nvPr/>
        </p:nvSpPr>
        <p:spPr>
          <a:xfrm>
            <a:off x="762000" y="5837686"/>
            <a:ext cx="171346" cy="38048"/>
          </a:xfrm>
          <a:prstGeom prst="roundRect">
            <a:avLst>
              <a:gd name="adj" fmla="val 50000"/>
            </a:avLst>
          </a:prstGeom>
          <a:solidFill>
            <a:srgbClr val="FFB401"/>
          </a:solidFill>
          <a:ln/>
        </p:spPr>
      </p:sp>
      <p:sp>
        <p:nvSpPr>
          <p:cNvPr id="26" name="Text 23"/>
          <p:cNvSpPr/>
          <p:nvPr/>
        </p:nvSpPr>
        <p:spPr>
          <a:xfrm>
            <a:off x="1009443" y="5769629"/>
            <a:ext cx="1883595" cy="212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Активные пользователи</a:t>
            </a:r>
            <a:endParaRPr lang="en-US" sz="1125" dirty="0"/>
          </a:p>
        </p:txBody>
      </p:sp>
      <p:sp>
        <p:nvSpPr>
          <p:cNvPr id="27" name="Shape 24"/>
          <p:cNvSpPr/>
          <p:nvPr/>
        </p:nvSpPr>
        <p:spPr>
          <a:xfrm>
            <a:off x="3083460" y="5837686"/>
            <a:ext cx="171346" cy="38048"/>
          </a:xfrm>
          <a:prstGeom prst="roundRect">
            <a:avLst>
              <a:gd name="adj" fmla="val 50000"/>
            </a:avLst>
          </a:prstGeom>
          <a:solidFill>
            <a:srgbClr val="00B9D2"/>
          </a:solidFill>
          <a:ln/>
        </p:spPr>
      </p:sp>
      <p:sp>
        <p:nvSpPr>
          <p:cNvPr id="28" name="Text 25"/>
          <p:cNvSpPr/>
          <p:nvPr/>
        </p:nvSpPr>
        <p:spPr>
          <a:xfrm>
            <a:off x="3330903" y="5769629"/>
            <a:ext cx="839309" cy="212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Платящие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762000" y="630306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30" name="Text 27"/>
          <p:cNvSpPr/>
          <p:nvPr/>
        </p:nvSpPr>
        <p:spPr>
          <a:xfrm>
            <a:off x="11309773" y="6303066"/>
            <a:ext cx="196427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44"/>
            <a:ext cx="11734800" cy="519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Путь пациента в четыре шага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552601" y="2387324"/>
            <a:ext cx="685774" cy="685774"/>
          </a:xfrm>
          <a:prstGeom prst="roundRect">
            <a:avLst>
              <a:gd name="adj" fmla="val 33335"/>
            </a:avLst>
          </a:prstGeom>
          <a:solidFill>
            <a:srgbClr val="FFB401"/>
          </a:solidFill>
          <a:ln/>
        </p:spPr>
      </p:sp>
      <p:sp>
        <p:nvSpPr>
          <p:cNvPr id="4" name="Text 2"/>
          <p:cNvSpPr/>
          <p:nvPr/>
        </p:nvSpPr>
        <p:spPr>
          <a:xfrm>
            <a:off x="1514501" y="2387324"/>
            <a:ext cx="761974" cy="7238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06477" y="3206400"/>
            <a:ext cx="778022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Заявка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04823" y="3571615"/>
            <a:ext cx="1981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214"/>
              </a:lnSpc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Пациент выбирает врача и время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3028976" y="3184271"/>
            <a:ext cx="533322" cy="19024"/>
          </a:xfrm>
          <a:prstGeom prst="rect">
            <a:avLst/>
          </a:prstGeom>
          <a:solidFill>
            <a:srgbClr val="D7D7DF"/>
          </a:solidFill>
          <a:ln/>
        </p:spPr>
      </p:sp>
      <p:sp>
        <p:nvSpPr>
          <p:cNvPr id="8" name="Shape 6"/>
          <p:cNvSpPr/>
          <p:nvPr/>
        </p:nvSpPr>
        <p:spPr>
          <a:xfrm>
            <a:off x="3497202" y="3146227"/>
            <a:ext cx="76200" cy="91109"/>
          </a:xfrm>
          <a:prstGeom prst="rect">
            <a:avLst/>
          </a:prstGeom>
          <a:solidFill>
            <a:srgbClr val="D7D7DF"/>
          </a:solidFill>
          <a:ln/>
        </p:spPr>
      </p:sp>
      <p:sp>
        <p:nvSpPr>
          <p:cNvPr id="9" name="Shape 7"/>
          <p:cNvSpPr/>
          <p:nvPr/>
        </p:nvSpPr>
        <p:spPr>
          <a:xfrm>
            <a:off x="4352899" y="2387324"/>
            <a:ext cx="685774" cy="685774"/>
          </a:xfrm>
          <a:prstGeom prst="roundRect">
            <a:avLst>
              <a:gd name="adj" fmla="val 33335"/>
            </a:avLst>
          </a:prstGeom>
          <a:solidFill>
            <a:srgbClr val="00B9D2"/>
          </a:solidFill>
          <a:ln/>
        </p:spPr>
      </p:sp>
      <p:sp>
        <p:nvSpPr>
          <p:cNvPr id="10" name="Text 8"/>
          <p:cNvSpPr/>
          <p:nvPr/>
        </p:nvSpPr>
        <p:spPr>
          <a:xfrm>
            <a:off x="4314799" y="2387324"/>
            <a:ext cx="761974" cy="7238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263033" y="3206400"/>
            <a:ext cx="865507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Подбор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05122" y="3571615"/>
            <a:ext cx="1981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214"/>
              </a:lnSpc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 сверяет профиль и рейтинг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5829274" y="3184271"/>
            <a:ext cx="533322" cy="19024"/>
          </a:xfrm>
          <a:prstGeom prst="rect">
            <a:avLst/>
          </a:prstGeom>
          <a:solidFill>
            <a:srgbClr val="D7D7DF"/>
          </a:solidFill>
          <a:ln/>
        </p:spPr>
      </p:sp>
      <p:sp>
        <p:nvSpPr>
          <p:cNvPr id="14" name="Shape 12"/>
          <p:cNvSpPr/>
          <p:nvPr/>
        </p:nvSpPr>
        <p:spPr>
          <a:xfrm>
            <a:off x="6297501" y="3146227"/>
            <a:ext cx="76200" cy="91109"/>
          </a:xfrm>
          <a:prstGeom prst="rect">
            <a:avLst/>
          </a:prstGeom>
          <a:solidFill>
            <a:srgbClr val="D7D7D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53198" y="2387324"/>
            <a:ext cx="685774" cy="685774"/>
          </a:xfrm>
          <a:prstGeom prst="roundRect">
            <a:avLst>
              <a:gd name="adj" fmla="val 33335"/>
            </a:avLst>
          </a:prstGeom>
          <a:solidFill>
            <a:srgbClr val="8037FC"/>
          </a:solidFill>
          <a:ln/>
        </p:spPr>
      </p:sp>
      <p:sp>
        <p:nvSpPr>
          <p:cNvPr id="16" name="Text 14"/>
          <p:cNvSpPr/>
          <p:nvPr/>
        </p:nvSpPr>
        <p:spPr>
          <a:xfrm>
            <a:off x="7115098" y="2387324"/>
            <a:ext cx="761974" cy="7238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110050" y="3206400"/>
            <a:ext cx="772069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Приём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05420" y="3571615"/>
            <a:ext cx="1981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214"/>
              </a:lnSpc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Онлайн-консультация или визит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8629573" y="3184271"/>
            <a:ext cx="533322" cy="19024"/>
          </a:xfrm>
          <a:prstGeom prst="rect">
            <a:avLst/>
          </a:prstGeom>
          <a:solidFill>
            <a:srgbClr val="D7D7DF"/>
          </a:solidFill>
          <a:ln/>
        </p:spPr>
      </p:sp>
      <p:sp>
        <p:nvSpPr>
          <p:cNvPr id="20" name="Shape 18"/>
          <p:cNvSpPr/>
          <p:nvPr/>
        </p:nvSpPr>
        <p:spPr>
          <a:xfrm>
            <a:off x="9097799" y="3146227"/>
            <a:ext cx="76200" cy="91109"/>
          </a:xfrm>
          <a:prstGeom prst="rect">
            <a:avLst/>
          </a:prstGeom>
          <a:solidFill>
            <a:srgbClr val="D7D7DF"/>
          </a:solidFill>
          <a:ln/>
        </p:spPr>
      </p:sp>
      <p:sp>
        <p:nvSpPr>
          <p:cNvPr id="21" name="Shape 19"/>
          <p:cNvSpPr/>
          <p:nvPr/>
        </p:nvSpPr>
        <p:spPr>
          <a:xfrm>
            <a:off x="9953495" y="2387324"/>
            <a:ext cx="685774" cy="685774"/>
          </a:xfrm>
          <a:prstGeom prst="roundRect">
            <a:avLst>
              <a:gd name="adj" fmla="val 33335"/>
            </a:avLst>
          </a:prstGeom>
          <a:solidFill>
            <a:srgbClr val="23D376"/>
          </a:solidFill>
          <a:ln/>
        </p:spPr>
      </p:sp>
      <p:sp>
        <p:nvSpPr>
          <p:cNvPr id="22" name="Text 20"/>
          <p:cNvSpPr/>
          <p:nvPr/>
        </p:nvSpPr>
        <p:spPr>
          <a:xfrm>
            <a:off x="9915395" y="2387324"/>
            <a:ext cx="761974" cy="7238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938691" y="3206400"/>
            <a:ext cx="715255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Отзыв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05718" y="3571615"/>
            <a:ext cx="1981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214"/>
              </a:lnSpc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Оценка формирует рейтинг врача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762000" y="5296207"/>
            <a:ext cx="10668000" cy="647467"/>
          </a:xfrm>
          <a:prstGeom prst="roundRect">
            <a:avLst>
              <a:gd name="adj" fmla="val 29422"/>
            </a:avLst>
          </a:prstGeom>
          <a:solidFill>
            <a:srgbClr val="E6F8FB"/>
          </a:solidFill>
          <a:ln/>
        </p:spPr>
      </p:sp>
      <p:sp>
        <p:nvSpPr>
          <p:cNvPr id="26" name="Text 24"/>
          <p:cNvSpPr/>
          <p:nvPr/>
        </p:nvSpPr>
        <p:spPr>
          <a:xfrm>
            <a:off x="1028700" y="5505757"/>
            <a:ext cx="10454640" cy="266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Каждый шаг замкнут в цикл: отзыв уточняет подбор, поэтому качество рекомендаций растёт с каждым приёмом.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2000" y="6303057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1280137" y="6303057"/>
            <a:ext cx="226063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44"/>
            <a:ext cx="11734800" cy="519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Иконочный сет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099387" y="2105983"/>
            <a:ext cx="685774" cy="685774"/>
          </a:xfrm>
          <a:prstGeom prst="roundRect">
            <a:avLst>
              <a:gd name="adj" fmla="val 30557"/>
            </a:avLst>
          </a:prstGeom>
          <a:solidFill>
            <a:srgbClr val="FFF8E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9887" y="2296483"/>
            <a:ext cx="304774" cy="3047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7492" y="2887005"/>
            <a:ext cx="449564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Врач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2650564" y="2105983"/>
            <a:ext cx="685774" cy="685774"/>
          </a:xfrm>
          <a:prstGeom prst="roundRect">
            <a:avLst>
              <a:gd name="adj" fmla="val 30557"/>
            </a:avLst>
          </a:prstGeom>
          <a:solidFill>
            <a:srgbClr val="E6F8F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1064" y="2296483"/>
            <a:ext cx="304774" cy="3047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32265" y="2887005"/>
            <a:ext cx="72250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Клиника</a:t>
            </a:r>
            <a:endParaRPr lang="en-US" sz="1125" dirty="0"/>
          </a:p>
        </p:txBody>
      </p:sp>
      <p:sp>
        <p:nvSpPr>
          <p:cNvPr id="9" name="Shape 5"/>
          <p:cNvSpPr/>
          <p:nvPr/>
        </p:nvSpPr>
        <p:spPr>
          <a:xfrm>
            <a:off x="4201742" y="2105983"/>
            <a:ext cx="685774" cy="685774"/>
          </a:xfrm>
          <a:prstGeom prst="roundRect">
            <a:avLst>
              <a:gd name="adj" fmla="val 30557"/>
            </a:avLst>
          </a:prstGeom>
          <a:solidFill>
            <a:srgbClr val="FFF8E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92242" y="2296483"/>
            <a:ext cx="304774" cy="30477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42844" y="2887005"/>
            <a:ext cx="603699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Запись</a:t>
            </a:r>
            <a:endParaRPr lang="en-US" sz="1125" dirty="0"/>
          </a:p>
        </p:txBody>
      </p:sp>
      <p:sp>
        <p:nvSpPr>
          <p:cNvPr id="12" name="Shape 7"/>
          <p:cNvSpPr/>
          <p:nvPr/>
        </p:nvSpPr>
        <p:spPr>
          <a:xfrm>
            <a:off x="5753048" y="2105983"/>
            <a:ext cx="685774" cy="685774"/>
          </a:xfrm>
          <a:prstGeom prst="roundRect">
            <a:avLst>
              <a:gd name="adj" fmla="val 30557"/>
            </a:avLst>
          </a:prstGeom>
          <a:solidFill>
            <a:srgbClr val="E6F8FB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3548" y="2296483"/>
            <a:ext cx="304774" cy="30477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699289" y="2887005"/>
            <a:ext cx="793293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Здоровье</a:t>
            </a:r>
            <a:endParaRPr lang="en-US" sz="1125" dirty="0"/>
          </a:p>
        </p:txBody>
      </p:sp>
      <p:sp>
        <p:nvSpPr>
          <p:cNvPr id="15" name="Shape 9"/>
          <p:cNvSpPr/>
          <p:nvPr/>
        </p:nvSpPr>
        <p:spPr>
          <a:xfrm>
            <a:off x="7304226" y="2105983"/>
            <a:ext cx="685774" cy="685774"/>
          </a:xfrm>
          <a:prstGeom prst="roundRect">
            <a:avLst>
              <a:gd name="adj" fmla="val 30557"/>
            </a:avLst>
          </a:prstGeom>
          <a:solidFill>
            <a:srgbClr val="FFF8E6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94726" y="2296483"/>
            <a:ext cx="304774" cy="30477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277515" y="2887005"/>
            <a:ext cx="739197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Анализы</a:t>
            </a:r>
            <a:endParaRPr lang="en-US" sz="1125" dirty="0"/>
          </a:p>
        </p:txBody>
      </p:sp>
      <p:sp>
        <p:nvSpPr>
          <p:cNvPr id="18" name="Shape 11"/>
          <p:cNvSpPr/>
          <p:nvPr/>
        </p:nvSpPr>
        <p:spPr>
          <a:xfrm>
            <a:off x="8855403" y="2105983"/>
            <a:ext cx="685774" cy="685774"/>
          </a:xfrm>
          <a:prstGeom prst="roundRect">
            <a:avLst>
              <a:gd name="adj" fmla="val 30557"/>
            </a:avLst>
          </a:prstGeom>
          <a:solidFill>
            <a:srgbClr val="E6F8FB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45903" y="2296483"/>
            <a:ext cx="304774" cy="30477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642463" y="2887005"/>
            <a:ext cx="1111785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Консультация</a:t>
            </a:r>
            <a:endParaRPr lang="en-US" sz="1125" dirty="0"/>
          </a:p>
        </p:txBody>
      </p:sp>
      <p:sp>
        <p:nvSpPr>
          <p:cNvPr id="21" name="Shape 13"/>
          <p:cNvSpPr/>
          <p:nvPr/>
        </p:nvSpPr>
        <p:spPr>
          <a:xfrm>
            <a:off x="10406581" y="2105983"/>
            <a:ext cx="685774" cy="685774"/>
          </a:xfrm>
          <a:prstGeom prst="roundRect">
            <a:avLst>
              <a:gd name="adj" fmla="val 30557"/>
            </a:avLst>
          </a:prstGeom>
          <a:solidFill>
            <a:srgbClr val="FFF8E6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597081" y="2296483"/>
            <a:ext cx="304774" cy="30477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0468649" y="2887005"/>
            <a:ext cx="561639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Готово</a:t>
            </a:r>
            <a:endParaRPr lang="en-US" sz="1125" dirty="0"/>
          </a:p>
        </p:txBody>
      </p:sp>
      <p:sp>
        <p:nvSpPr>
          <p:cNvPr id="24" name="Shape 15"/>
          <p:cNvSpPr/>
          <p:nvPr/>
        </p:nvSpPr>
        <p:spPr>
          <a:xfrm>
            <a:off x="1099387" y="3327536"/>
            <a:ext cx="685774" cy="685774"/>
          </a:xfrm>
          <a:prstGeom prst="roundRect">
            <a:avLst>
              <a:gd name="adj" fmla="val 30557"/>
            </a:avLst>
          </a:prstGeom>
          <a:solidFill>
            <a:srgbClr val="E6F8FB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89887" y="3518036"/>
            <a:ext cx="304774" cy="30477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60252" y="4108559"/>
            <a:ext cx="764045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Профиль</a:t>
            </a:r>
            <a:endParaRPr lang="en-US" sz="1125" dirty="0"/>
          </a:p>
        </p:txBody>
      </p:sp>
      <p:sp>
        <p:nvSpPr>
          <p:cNvPr id="27" name="Shape 17"/>
          <p:cNvSpPr/>
          <p:nvPr/>
        </p:nvSpPr>
        <p:spPr>
          <a:xfrm>
            <a:off x="2650564" y="3327536"/>
            <a:ext cx="685774" cy="685774"/>
          </a:xfrm>
          <a:prstGeom prst="roundRect">
            <a:avLst>
              <a:gd name="adj" fmla="val 30557"/>
            </a:avLst>
          </a:prstGeom>
          <a:solidFill>
            <a:srgbClr val="FFF8E6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841064" y="3518036"/>
            <a:ext cx="304774" cy="304774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2706808" y="4108559"/>
            <a:ext cx="573415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Статьи</a:t>
            </a:r>
            <a:endParaRPr lang="en-US" sz="1125" dirty="0"/>
          </a:p>
        </p:txBody>
      </p:sp>
      <p:sp>
        <p:nvSpPr>
          <p:cNvPr id="30" name="Shape 19"/>
          <p:cNvSpPr/>
          <p:nvPr/>
        </p:nvSpPr>
        <p:spPr>
          <a:xfrm>
            <a:off x="4201742" y="3327536"/>
            <a:ext cx="685774" cy="685774"/>
          </a:xfrm>
          <a:prstGeom prst="roundRect">
            <a:avLst>
              <a:gd name="adj" fmla="val 30557"/>
            </a:avLst>
          </a:prstGeom>
          <a:solidFill>
            <a:srgbClr val="E6F8FB"/>
          </a:solidFill>
          <a:ln/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392242" y="3518036"/>
            <a:ext cx="304774" cy="304774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4040050" y="4108559"/>
            <a:ext cx="1009158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База знаний</a:t>
            </a:r>
            <a:endParaRPr lang="en-US" sz="1125" dirty="0"/>
          </a:p>
        </p:txBody>
      </p:sp>
      <p:sp>
        <p:nvSpPr>
          <p:cNvPr id="33" name="Shape 21"/>
          <p:cNvSpPr/>
          <p:nvPr/>
        </p:nvSpPr>
        <p:spPr>
          <a:xfrm>
            <a:off x="5753048" y="3327536"/>
            <a:ext cx="685774" cy="685774"/>
          </a:xfrm>
          <a:prstGeom prst="roundRect">
            <a:avLst>
              <a:gd name="adj" fmla="val 30557"/>
            </a:avLst>
          </a:prstGeom>
          <a:solidFill>
            <a:srgbClr val="FFF8E6"/>
          </a:solidFill>
          <a:ln/>
        </p:spPr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943548" y="3518036"/>
            <a:ext cx="304774" cy="304774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5822493" y="4108559"/>
            <a:ext cx="546756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Поиск</a:t>
            </a:r>
            <a:endParaRPr lang="en-US" sz="1125" dirty="0"/>
          </a:p>
        </p:txBody>
      </p:sp>
      <p:sp>
        <p:nvSpPr>
          <p:cNvPr id="36" name="Shape 23"/>
          <p:cNvSpPr/>
          <p:nvPr/>
        </p:nvSpPr>
        <p:spPr>
          <a:xfrm>
            <a:off x="7304226" y="3327536"/>
            <a:ext cx="685774" cy="685774"/>
          </a:xfrm>
          <a:prstGeom prst="roundRect">
            <a:avLst>
              <a:gd name="adj" fmla="val 30557"/>
            </a:avLst>
          </a:prstGeom>
          <a:solidFill>
            <a:srgbClr val="E6F8FB"/>
          </a:solidFill>
          <a:ln/>
        </p:spPr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494726" y="3518036"/>
            <a:ext cx="304774" cy="304774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7376000" y="4108559"/>
            <a:ext cx="542356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Адрес</a:t>
            </a:r>
            <a:endParaRPr lang="en-US" sz="1125" dirty="0"/>
          </a:p>
        </p:txBody>
      </p:sp>
      <p:sp>
        <p:nvSpPr>
          <p:cNvPr id="39" name="Shape 25"/>
          <p:cNvSpPr/>
          <p:nvPr/>
        </p:nvSpPr>
        <p:spPr>
          <a:xfrm>
            <a:off x="8855403" y="3327536"/>
            <a:ext cx="685774" cy="685774"/>
          </a:xfrm>
          <a:prstGeom prst="roundRect">
            <a:avLst>
              <a:gd name="adj" fmla="val 30557"/>
            </a:avLst>
          </a:prstGeom>
          <a:solidFill>
            <a:srgbClr val="FFF8E6"/>
          </a:solidFill>
          <a:ln/>
        </p:spPr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045903" y="3518036"/>
            <a:ext cx="304774" cy="304774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8761654" y="4108559"/>
            <a:ext cx="873401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Отправить</a:t>
            </a:r>
            <a:endParaRPr lang="en-US" sz="1125" dirty="0"/>
          </a:p>
        </p:txBody>
      </p:sp>
      <p:sp>
        <p:nvSpPr>
          <p:cNvPr id="42" name="Shape 27"/>
          <p:cNvSpPr/>
          <p:nvPr/>
        </p:nvSpPr>
        <p:spPr>
          <a:xfrm>
            <a:off x="10406581" y="3327536"/>
            <a:ext cx="685774" cy="685774"/>
          </a:xfrm>
          <a:prstGeom prst="roundRect">
            <a:avLst>
              <a:gd name="adj" fmla="val 30557"/>
            </a:avLst>
          </a:prstGeom>
          <a:solidFill>
            <a:srgbClr val="E6F8FB"/>
          </a:solidFill>
          <a:ln/>
        </p:spPr>
      </p:sp>
      <p:pic>
        <p:nvPicPr>
          <p:cNvPr id="43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597081" y="3518036"/>
            <a:ext cx="304774" cy="304774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10191440" y="4108559"/>
            <a:ext cx="1116056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Стоматология</a:t>
            </a:r>
            <a:endParaRPr lang="en-US" sz="1125" dirty="0"/>
          </a:p>
        </p:txBody>
      </p:sp>
      <p:sp>
        <p:nvSpPr>
          <p:cNvPr id="45" name="Shape 29"/>
          <p:cNvSpPr/>
          <p:nvPr/>
        </p:nvSpPr>
        <p:spPr>
          <a:xfrm>
            <a:off x="762000" y="5297249"/>
            <a:ext cx="10668000" cy="9525"/>
          </a:xfrm>
          <a:prstGeom prst="rect">
            <a:avLst/>
          </a:prstGeom>
          <a:solidFill>
            <a:srgbClr val="D7D7DF"/>
          </a:solidFill>
          <a:ln/>
        </p:spPr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62000" y="5538862"/>
            <a:ext cx="381000" cy="381000"/>
          </a:xfrm>
          <a:prstGeom prst="rect">
            <a:avLst/>
          </a:prstGeom>
        </p:spPr>
      </p:pic>
      <p:pic>
        <p:nvPicPr>
          <p:cNvPr id="47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295322" y="5615090"/>
            <a:ext cx="304774" cy="304774"/>
          </a:xfrm>
          <a:prstGeom prst="rect">
            <a:avLst/>
          </a:prstGeom>
        </p:spPr>
      </p:pic>
      <p:pic>
        <p:nvPicPr>
          <p:cNvPr id="48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752419" y="5691318"/>
            <a:ext cx="228548" cy="228548"/>
          </a:xfrm>
          <a:prstGeom prst="rect">
            <a:avLst/>
          </a:prstGeom>
        </p:spPr>
      </p:pic>
      <p:pic>
        <p:nvPicPr>
          <p:cNvPr id="49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133289" y="5729362"/>
            <a:ext cx="190500" cy="190500"/>
          </a:xfrm>
          <a:prstGeom prst="rect">
            <a:avLst/>
          </a:prstGeom>
        </p:spPr>
      </p:pic>
      <p:sp>
        <p:nvSpPr>
          <p:cNvPr id="50" name="Text 30"/>
          <p:cNvSpPr/>
          <p:nvPr/>
        </p:nvSpPr>
        <p:spPr>
          <a:xfrm>
            <a:off x="2704790" y="5515049"/>
            <a:ext cx="898696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14"/>
              </a:lnSpc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Линейные иконки 24×24 из системы. На слайдах — 32 и 40px в плашке 72×72, в списках — 24px. Цвет иконки: оранжевый или голубой, на тёмном фоне — белый.</a:t>
            </a:r>
            <a:endParaRPr lang="en-US" sz="1125" dirty="0"/>
          </a:p>
        </p:txBody>
      </p:sp>
      <p:sp>
        <p:nvSpPr>
          <p:cNvPr id="51" name="Text 31"/>
          <p:cNvSpPr/>
          <p:nvPr/>
        </p:nvSpPr>
        <p:spPr>
          <a:xfrm>
            <a:off x="762000" y="630306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52" name="Text 32"/>
          <p:cNvSpPr/>
          <p:nvPr/>
        </p:nvSpPr>
        <p:spPr>
          <a:xfrm>
            <a:off x="11280655" y="6303066"/>
            <a:ext cx="225546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5ED3E4">
                  <a:alpha val="100000"/>
                </a:srgbClr>
              </a:gs>
              <a:gs pos="55000">
                <a:srgbClr val="2BC3D8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762000" y="609553"/>
            <a:ext cx="11734800" cy="1600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7117"/>
              </a:lnSpc>
              <a:buNone/>
            </a:pPr>
            <a:r>
              <a:rPr lang="en-US" sz="15000" b="1" spc="-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1,2 млн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762000" y="2362098"/>
            <a:ext cx="7962900" cy="384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33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записей к врачу прошло через сервис за год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2000" y="2899172"/>
            <a:ext cx="6278880" cy="569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40"/>
              </a:lnSpc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показатель на слайд — так цифра запоминается и её не приходится искать среди других.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62000" y="630306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1266807" y="6303066"/>
            <a:ext cx="239393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11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44"/>
            <a:ext cx="11734800" cy="519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Было и стало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434182"/>
            <a:ext cx="5219726" cy="4509492"/>
          </a:xfrm>
          <a:prstGeom prst="roundRect">
            <a:avLst>
              <a:gd name="adj" fmla="val 5069"/>
            </a:avLst>
          </a:prstGeom>
          <a:solidFill>
            <a:srgbClr val="F5F5F8"/>
          </a:solidFill>
          <a:ln w="14288">
            <a:solidFill>
              <a:srgbClr val="D7D7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7246" y="178943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8686A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2920" y="1875104"/>
            <a:ext cx="209524" cy="2095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12520" y="1863970"/>
            <a:ext cx="622205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Было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17246" y="2360935"/>
            <a:ext cx="4960157" cy="2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60"/>
              </a:lnSpc>
              <a:buNone/>
            </a:pPr>
            <a:r>
              <a:rPr lang="en-US" sz="127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Заявку обрабатывали вручную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1117246" y="2802368"/>
            <a:ext cx="4960157" cy="2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60"/>
              </a:lnSpc>
              <a:buNone/>
            </a:pPr>
            <a:r>
              <a:rPr lang="en-US" sz="127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Пациент не видел свободных слотов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117246" y="3243802"/>
            <a:ext cx="4960157" cy="2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60"/>
              </a:lnSpc>
              <a:buNone/>
            </a:pPr>
            <a:r>
              <a:rPr lang="en-US" sz="127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Отзывы не влияли на подбор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6210274" y="1434182"/>
            <a:ext cx="5219726" cy="4509492"/>
          </a:xfrm>
          <a:prstGeom prst="roundRect">
            <a:avLst>
              <a:gd name="adj" fmla="val 5069"/>
            </a:avLst>
          </a:prstGeom>
          <a:solidFill>
            <a:srgbClr val="E6F8FB"/>
          </a:solidFill>
          <a:ln w="14288">
            <a:solidFill>
              <a:srgbClr val="7FD7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65521" y="178943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00B9D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1194" y="1875104"/>
            <a:ext cx="209524" cy="2095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60795" y="1863970"/>
            <a:ext cx="669830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Стало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65521" y="2360935"/>
            <a:ext cx="4960157" cy="2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60"/>
              </a:lnSpc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Запись подтверждается автоматически</a:t>
            </a:r>
            <a:endParaRPr lang="en-US" sz="1275" dirty="0"/>
          </a:p>
        </p:txBody>
      </p:sp>
      <p:sp>
        <p:nvSpPr>
          <p:cNvPr id="15" name="Text 11"/>
          <p:cNvSpPr/>
          <p:nvPr/>
        </p:nvSpPr>
        <p:spPr>
          <a:xfrm>
            <a:off x="6565521" y="2802368"/>
            <a:ext cx="4960157" cy="2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60"/>
              </a:lnSpc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Слоты видны в реальном времени</a:t>
            </a:r>
            <a:endParaRPr lang="en-US" sz="1275" dirty="0"/>
          </a:p>
        </p:txBody>
      </p:sp>
      <p:sp>
        <p:nvSpPr>
          <p:cNvPr id="16" name="Text 12"/>
          <p:cNvSpPr/>
          <p:nvPr/>
        </p:nvSpPr>
        <p:spPr>
          <a:xfrm>
            <a:off x="6565521" y="3243802"/>
            <a:ext cx="4960157" cy="2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60"/>
              </a:lnSpc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Отзыв сразу уточняет рекомендации</a:t>
            </a:r>
            <a:endParaRPr lang="en-US" sz="1275" dirty="0"/>
          </a:p>
        </p:txBody>
      </p:sp>
      <p:sp>
        <p:nvSpPr>
          <p:cNvPr id="17" name="Text 13"/>
          <p:cNvSpPr/>
          <p:nvPr/>
        </p:nvSpPr>
        <p:spPr>
          <a:xfrm>
            <a:off x="762000" y="630306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18" name="Text 14"/>
          <p:cNvSpPr/>
          <p:nvPr/>
        </p:nvSpPr>
        <p:spPr>
          <a:xfrm>
            <a:off x="11280396" y="6303066"/>
            <a:ext cx="225805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11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53"/>
            <a:ext cx="11734800" cy="519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Путь от визита до записи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2241352"/>
            <a:ext cx="9677452" cy="609548"/>
          </a:xfrm>
          <a:prstGeom prst="roundRect">
            <a:avLst>
              <a:gd name="adj" fmla="val 25002"/>
            </a:avLst>
          </a:prstGeom>
          <a:solidFill>
            <a:srgbClr val="FFB401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2241352"/>
            <a:ext cx="9510576" cy="647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Зашли на страницу врача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668001" y="2421889"/>
            <a:ext cx="838200" cy="28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2000" y="3003221"/>
            <a:ext cx="6827458" cy="609548"/>
          </a:xfrm>
          <a:prstGeom prst="roundRect">
            <a:avLst>
              <a:gd name="adj" fmla="val 25002"/>
            </a:avLst>
          </a:prstGeom>
          <a:solidFill>
            <a:srgbClr val="FFC93F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003221"/>
            <a:ext cx="6575082" cy="647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Открыли расписание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18007" y="3183759"/>
            <a:ext cx="838200" cy="28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64%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62000" y="3765100"/>
            <a:ext cx="4053819" cy="609548"/>
          </a:xfrm>
          <a:prstGeom prst="roundRect">
            <a:avLst>
              <a:gd name="adj" fmla="val 25002"/>
            </a:avLst>
          </a:prstGeom>
          <a:solidFill>
            <a:srgbClr val="00B9D2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3765100"/>
            <a:ext cx="3718234" cy="647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Выбрали слот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44368" y="3945629"/>
            <a:ext cx="838200" cy="28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38%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62000" y="4526970"/>
            <a:ext cx="3093684" cy="609548"/>
          </a:xfrm>
          <a:prstGeom prst="roundRect">
            <a:avLst>
              <a:gd name="adj" fmla="val 25002"/>
            </a:avLst>
          </a:prstGeom>
          <a:solidFill>
            <a:srgbClr val="8037FC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4526970"/>
            <a:ext cx="2729294" cy="647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Подтвердили запись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084232" y="4707499"/>
            <a:ext cx="838200" cy="28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29%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62000" y="630306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1274183" y="6303066"/>
            <a:ext cx="232017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44"/>
            <a:ext cx="11734800" cy="519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входит в подписку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759197"/>
            <a:ext cx="10668000" cy="9525"/>
          </a:xfrm>
          <a:prstGeom prst="rect">
            <a:avLst/>
          </a:prstGeom>
          <a:solidFill>
            <a:srgbClr val="D7D7DF"/>
          </a:solidFill>
          <a:ln/>
        </p:spPr>
      </p:sp>
      <p:sp>
        <p:nvSpPr>
          <p:cNvPr id="4" name="Text 2"/>
          <p:cNvSpPr/>
          <p:nvPr/>
        </p:nvSpPr>
        <p:spPr>
          <a:xfrm>
            <a:off x="990548" y="1434182"/>
            <a:ext cx="4492798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ВОЗМОЖНОСТЬ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5074910" y="1434182"/>
            <a:ext cx="2246399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БАЗОВЫЙ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117091" y="1434182"/>
            <a:ext cx="2246399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ПЛЮС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9159271" y="1434182"/>
            <a:ext cx="2246399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СЕМЕЙНЫЙ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762000" y="2347260"/>
            <a:ext cx="10668000" cy="9525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9" name="Text 7"/>
          <p:cNvSpPr/>
          <p:nvPr/>
        </p:nvSpPr>
        <p:spPr>
          <a:xfrm>
            <a:off x="990548" y="1959220"/>
            <a:ext cx="4492798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Онлайн-запись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074910" y="1959220"/>
            <a:ext cx="2246399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B9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117091" y="1959220"/>
            <a:ext cx="2246399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B9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9159271" y="1959220"/>
            <a:ext cx="2246399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B9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762000" y="2356786"/>
            <a:ext cx="10668000" cy="588065"/>
          </a:xfrm>
          <a:prstGeom prst="rect">
            <a:avLst/>
          </a:prstGeom>
          <a:solidFill>
            <a:srgbClr val="FA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2935327"/>
            <a:ext cx="10668000" cy="9525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15" name="Text 13"/>
          <p:cNvSpPr/>
          <p:nvPr/>
        </p:nvSpPr>
        <p:spPr>
          <a:xfrm>
            <a:off x="990548" y="2547286"/>
            <a:ext cx="4492798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Консультации по видео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5074910" y="2547286"/>
            <a:ext cx="2246399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7117091" y="2547286"/>
            <a:ext cx="2246399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B9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9159271" y="2547286"/>
            <a:ext cx="2246399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B9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762000" y="3523393"/>
            <a:ext cx="10668000" cy="9525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20" name="Text 18"/>
          <p:cNvSpPr/>
          <p:nvPr/>
        </p:nvSpPr>
        <p:spPr>
          <a:xfrm>
            <a:off x="990548" y="3135353"/>
            <a:ext cx="4492798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Второе мнение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5074910" y="3135353"/>
            <a:ext cx="2246399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7117091" y="3135353"/>
            <a:ext cx="2246399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B9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9159271" y="3135353"/>
            <a:ext cx="2246399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B9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762000" y="3532919"/>
            <a:ext cx="10668000" cy="588065"/>
          </a:xfrm>
          <a:prstGeom prst="rect">
            <a:avLst/>
          </a:prstGeom>
          <a:solidFill>
            <a:srgbClr val="FA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62000" y="4111459"/>
            <a:ext cx="10668000" cy="9525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26" name="Text 24"/>
          <p:cNvSpPr/>
          <p:nvPr/>
        </p:nvSpPr>
        <p:spPr>
          <a:xfrm>
            <a:off x="990548" y="3723419"/>
            <a:ext cx="4492798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 4 профилей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5074910" y="3723419"/>
            <a:ext cx="2246399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7117091" y="3723419"/>
            <a:ext cx="2246399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9159271" y="3723419"/>
            <a:ext cx="2246399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B9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</a:t>
            </a:r>
            <a:endParaRPr lang="en-US" sz="1275" dirty="0"/>
          </a:p>
        </p:txBody>
      </p:sp>
      <p:sp>
        <p:nvSpPr>
          <p:cNvPr id="30" name="Shape 28"/>
          <p:cNvSpPr/>
          <p:nvPr/>
        </p:nvSpPr>
        <p:spPr>
          <a:xfrm>
            <a:off x="762000" y="4699526"/>
            <a:ext cx="10668000" cy="9525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31" name="Text 29"/>
          <p:cNvSpPr/>
          <p:nvPr/>
        </p:nvSpPr>
        <p:spPr>
          <a:xfrm>
            <a:off x="990548" y="4311486"/>
            <a:ext cx="4492798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Приоритетная поддержка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5074910" y="4311486"/>
            <a:ext cx="2246399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7117091" y="4311486"/>
            <a:ext cx="2246399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9159271" y="4311486"/>
            <a:ext cx="2246399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B9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762000" y="630306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1277160" y="6303066"/>
            <a:ext cx="22904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11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53"/>
            <a:ext cx="11734800" cy="519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Кто делает продукт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16848" r="16848" t="0" b="0"/>
          <a:stretch/>
        </p:blipFill>
        <p:spPr>
          <a:xfrm>
            <a:off x="762000" y="1434192"/>
            <a:ext cx="2495524" cy="24955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4082039"/>
            <a:ext cx="2745077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Имя Фамилия</a:t>
            </a:r>
            <a:endParaRPr lang="en-US" sz="1425" dirty="0"/>
          </a:p>
        </p:txBody>
      </p:sp>
      <p:sp>
        <p:nvSpPr>
          <p:cNvPr id="5" name="Text 2"/>
          <p:cNvSpPr/>
          <p:nvPr/>
        </p:nvSpPr>
        <p:spPr>
          <a:xfrm>
            <a:off x="762000" y="4335428"/>
            <a:ext cx="2745077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Медицинский директор</a:t>
            </a:r>
            <a:endParaRPr lang="en-US" sz="112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16688" r="16688" t="0" b="0"/>
          <a:stretch/>
        </p:blipFill>
        <p:spPr>
          <a:xfrm>
            <a:off x="3486072" y="1434192"/>
            <a:ext cx="2495653" cy="24956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86072" y="4082160"/>
            <a:ext cx="2745219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Имя Фамилия</a:t>
            </a:r>
            <a:endParaRPr lang="en-US" sz="1425" dirty="0"/>
          </a:p>
        </p:txBody>
      </p:sp>
      <p:sp>
        <p:nvSpPr>
          <p:cNvPr id="8" name="Text 4"/>
          <p:cNvSpPr/>
          <p:nvPr/>
        </p:nvSpPr>
        <p:spPr>
          <a:xfrm>
            <a:off x="3486072" y="4335559"/>
            <a:ext cx="2745219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Продукт</a:t>
            </a:r>
            <a:endParaRPr lang="en-US" sz="1125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21892" r="21892" t="0" b="0"/>
          <a:stretch/>
        </p:blipFill>
        <p:spPr>
          <a:xfrm>
            <a:off x="6210274" y="1434192"/>
            <a:ext cx="2495524" cy="24955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0274" y="4082039"/>
            <a:ext cx="2745077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Имя Фамилия</a:t>
            </a:r>
            <a:endParaRPr lang="en-US" sz="1425" dirty="0"/>
          </a:p>
        </p:txBody>
      </p:sp>
      <p:sp>
        <p:nvSpPr>
          <p:cNvPr id="11" name="Text 6"/>
          <p:cNvSpPr/>
          <p:nvPr/>
        </p:nvSpPr>
        <p:spPr>
          <a:xfrm>
            <a:off x="6210274" y="4335428"/>
            <a:ext cx="2745077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Партнёрства</a:t>
            </a:r>
            <a:endParaRPr lang="en-US" sz="1125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16848" r="16848" t="0" b="0"/>
          <a:stretch/>
        </p:blipFill>
        <p:spPr>
          <a:xfrm>
            <a:off x="8934347" y="1434192"/>
            <a:ext cx="2495653" cy="24956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34347" y="4082160"/>
            <a:ext cx="2745219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Имя Фамилия</a:t>
            </a:r>
            <a:endParaRPr lang="en-US" sz="1425" dirty="0"/>
          </a:p>
        </p:txBody>
      </p:sp>
      <p:sp>
        <p:nvSpPr>
          <p:cNvPr id="14" name="Text 8"/>
          <p:cNvSpPr/>
          <p:nvPr/>
        </p:nvSpPr>
        <p:spPr>
          <a:xfrm>
            <a:off x="8934347" y="4335559"/>
            <a:ext cx="2745219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Клиентский сервис</a:t>
            </a:r>
            <a:endParaRPr lang="en-US" sz="1125" dirty="0"/>
          </a:p>
        </p:txBody>
      </p:sp>
      <p:sp>
        <p:nvSpPr>
          <p:cNvPr id="15" name="Text 9"/>
          <p:cNvSpPr/>
          <p:nvPr/>
        </p:nvSpPr>
        <p:spPr>
          <a:xfrm>
            <a:off x="762000" y="630306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16" name="Text 10"/>
          <p:cNvSpPr/>
          <p:nvPr/>
        </p:nvSpPr>
        <p:spPr>
          <a:xfrm>
            <a:off x="11270172" y="6303066"/>
            <a:ext cx="236028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44"/>
            <a:ext cx="9010651" cy="519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Текстовый слайд в две колонки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62000" y="1434182"/>
            <a:ext cx="5574002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Первый блок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818419"/>
            <a:ext cx="5219293" cy="83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406"/>
              </a:lnSpc>
              <a:buNone/>
            </a:pPr>
            <a:r>
              <a:rPr lang="en-US" sz="127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Абзац на четыре-шесть строк. Такой слайд нужен, когда важен сам текст: позиция, методология, пояснение к решению. Держите одну мысль на колонку.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6362597" y="1434182"/>
            <a:ext cx="5574144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Второй блок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62597" y="1818419"/>
            <a:ext cx="5219426" cy="83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406"/>
              </a:lnSpc>
              <a:buNone/>
            </a:pPr>
            <a:r>
              <a:rPr lang="en-US" sz="127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Вторая колонка продолжает или противопоставляет первую. Если текста больше — лучше разбить на два слайда, чем уменьшать кегль ниже 17px.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62000" y="630306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1274183" y="6303066"/>
            <a:ext cx="232017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11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53"/>
            <a:ext cx="11734800" cy="519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Пункты списков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62000" y="1396138"/>
            <a:ext cx="557400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НУМЕРОВАННЫЙ — КРУЖОК</a:t>
            </a:r>
            <a:endParaRPr lang="en-US" sz="1125" dirty="0"/>
          </a:p>
        </p:txBody>
      </p:sp>
      <p:sp>
        <p:nvSpPr>
          <p:cNvPr id="4" name="Shape 2"/>
          <p:cNvSpPr/>
          <p:nvPr/>
        </p:nvSpPr>
        <p:spPr>
          <a:xfrm>
            <a:off x="762000" y="1722397"/>
            <a:ext cx="381000" cy="381000"/>
          </a:xfrm>
          <a:prstGeom prst="ellipse">
            <a:avLst/>
          </a:prstGeom>
          <a:solidFill>
            <a:srgbClr val="FFB401"/>
          </a:solidFill>
          <a:ln/>
        </p:spPr>
      </p:sp>
      <p:sp>
        <p:nvSpPr>
          <p:cNvPr id="5" name="Text 3"/>
          <p:cNvSpPr/>
          <p:nvPr/>
        </p:nvSpPr>
        <p:spPr>
          <a:xfrm>
            <a:off x="723900" y="1722397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1276298" y="1809359"/>
            <a:ext cx="3814750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Заполненный кружок — основной шаг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62000" y="2255723"/>
            <a:ext cx="381000" cy="381000"/>
          </a:xfrm>
          <a:prstGeom prst="ellipse">
            <a:avLst/>
          </a:prstGeom>
          <a:solidFill>
            <a:srgbClr val="E6F8FB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" y="2255723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0B9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276298" y="2342685"/>
            <a:ext cx="3845214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Тонированный — второстепенный шаг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2000" y="2789039"/>
            <a:ext cx="381000" cy="381000"/>
          </a:xfrm>
          <a:prstGeom prst="ellipse">
            <a:avLst/>
          </a:prstGeom>
          <a:ln w="19050">
            <a:solidFill>
              <a:srgbClr val="FFB40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950" y="2808089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B4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276298" y="2876010"/>
            <a:ext cx="2699095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Контурный — будущий шаг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62597" y="1396138"/>
            <a:ext cx="5574144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ЧЕК-ЛИСТ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6362597" y="1722397"/>
            <a:ext cx="266596" cy="266596"/>
          </a:xfrm>
          <a:prstGeom prst="ellipse">
            <a:avLst/>
          </a:prstGeom>
          <a:solidFill>
            <a:srgbClr val="FFB401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10222" y="1770022"/>
            <a:ext cx="171346" cy="17134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62491" y="1752163"/>
            <a:ext cx="2036849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Выполненный пункт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362597" y="2141311"/>
            <a:ext cx="266596" cy="266596"/>
          </a:xfrm>
          <a:prstGeom prst="ellipse">
            <a:avLst/>
          </a:prstGeom>
          <a:solidFill>
            <a:srgbClr val="E6F8F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0222" y="2188936"/>
            <a:ext cx="171346" cy="17134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762491" y="2171077"/>
            <a:ext cx="147866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Пункт в работе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362597" y="2560234"/>
            <a:ext cx="266596" cy="266596"/>
          </a:xfrm>
          <a:prstGeom prst="ellipse">
            <a:avLst/>
          </a:prstGeom>
          <a:ln w="19050">
            <a:solidFill>
              <a:srgbClr val="D7D7D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762491" y="2590000"/>
            <a:ext cx="1265272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Ещё не начат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762000" y="3436637"/>
            <a:ext cx="557400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ТОЧКИ И ТИРЕ</a:t>
            </a:r>
            <a:endParaRPr lang="en-US" sz="1125" dirty="0"/>
          </a:p>
        </p:txBody>
      </p:sp>
      <p:sp>
        <p:nvSpPr>
          <p:cNvPr id="23" name="Shape 19"/>
          <p:cNvSpPr/>
          <p:nvPr/>
        </p:nvSpPr>
        <p:spPr>
          <a:xfrm>
            <a:off x="857250" y="3828380"/>
            <a:ext cx="76096" cy="76096"/>
          </a:xfrm>
          <a:prstGeom prst="ellipse">
            <a:avLst/>
          </a:prstGeom>
          <a:solidFill>
            <a:srgbClr val="FFB401"/>
          </a:solidFill>
          <a:ln/>
        </p:spPr>
      </p:sp>
      <p:sp>
        <p:nvSpPr>
          <p:cNvPr id="24" name="Text 20"/>
          <p:cNvSpPr/>
          <p:nvPr/>
        </p:nvSpPr>
        <p:spPr>
          <a:xfrm>
            <a:off x="1161895" y="3762896"/>
            <a:ext cx="3569041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Точка 8px — плотные перечисления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809625" y="4211575"/>
            <a:ext cx="171346" cy="28471"/>
          </a:xfrm>
          <a:prstGeom prst="roundRect">
            <a:avLst>
              <a:gd name="adj" fmla="val 50001"/>
            </a:avLst>
          </a:prstGeom>
          <a:solidFill>
            <a:srgbClr val="00B9D2"/>
          </a:solidFill>
          <a:ln/>
        </p:spPr>
      </p:sp>
      <p:sp>
        <p:nvSpPr>
          <p:cNvPr id="26" name="Text 22"/>
          <p:cNvSpPr/>
          <p:nvPr/>
        </p:nvSpPr>
        <p:spPr>
          <a:xfrm>
            <a:off x="1161895" y="4122279"/>
            <a:ext cx="324446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Тире 18×3 — вложенный уровень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847673" y="4537574"/>
            <a:ext cx="95250" cy="95250"/>
          </a:xfrm>
          <a:prstGeom prst="roundRect">
            <a:avLst>
              <a:gd name="adj" fmla="val 30000"/>
            </a:avLst>
          </a:prstGeom>
          <a:solidFill>
            <a:srgbClr val="373660"/>
          </a:solidFill>
          <a:ln/>
        </p:spPr>
      </p:sp>
      <p:sp>
        <p:nvSpPr>
          <p:cNvPr id="28" name="Text 24"/>
          <p:cNvSpPr/>
          <p:nvPr/>
        </p:nvSpPr>
        <p:spPr>
          <a:xfrm>
            <a:off x="1161895" y="4481671"/>
            <a:ext cx="3253435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Квадрат 10px — акцентный пункт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6362597" y="3436637"/>
            <a:ext cx="5574144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 ИКОНКОЙ И ЧИПЫ</a:t>
            </a:r>
            <a:endParaRPr lang="en-US" sz="1125" dirty="0"/>
          </a:p>
        </p:txBody>
      </p:sp>
      <p:sp>
        <p:nvSpPr>
          <p:cNvPr id="30" name="Shape 26"/>
          <p:cNvSpPr/>
          <p:nvPr/>
        </p:nvSpPr>
        <p:spPr>
          <a:xfrm>
            <a:off x="6362597" y="3762896"/>
            <a:ext cx="381000" cy="381000"/>
          </a:xfrm>
          <a:prstGeom prst="roundRect">
            <a:avLst>
              <a:gd name="adj" fmla="val 35000"/>
            </a:avLst>
          </a:prstGeom>
          <a:solidFill>
            <a:srgbClr val="FFF8E6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48270" y="3848565"/>
            <a:ext cx="209524" cy="20952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876895" y="3849858"/>
            <a:ext cx="3380844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Иконка в плашке 40×40, радиус 14</a:t>
            </a:r>
            <a:endParaRPr lang="en-US" sz="1350" dirty="0"/>
          </a:p>
        </p:txBody>
      </p:sp>
      <p:sp>
        <p:nvSpPr>
          <p:cNvPr id="33" name="Shape 28"/>
          <p:cNvSpPr/>
          <p:nvPr/>
        </p:nvSpPr>
        <p:spPr>
          <a:xfrm>
            <a:off x="6362597" y="4296221"/>
            <a:ext cx="1653933" cy="326128"/>
          </a:xfrm>
          <a:prstGeom prst="roundRect">
            <a:avLst>
              <a:gd name="adj" fmla="val 50000"/>
            </a:avLst>
          </a:prstGeom>
          <a:solidFill>
            <a:srgbClr val="FFF8E6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4919" y="4373612"/>
            <a:ext cx="171346" cy="17134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762362" y="4372198"/>
            <a:ext cx="1177983" cy="212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Чип с иконкой</a:t>
            </a:r>
            <a:endParaRPr lang="en-US" sz="1125" dirty="0"/>
          </a:p>
        </p:txBody>
      </p:sp>
      <p:sp>
        <p:nvSpPr>
          <p:cNvPr id="36" name="Shape 30"/>
          <p:cNvSpPr/>
          <p:nvPr/>
        </p:nvSpPr>
        <p:spPr>
          <a:xfrm>
            <a:off x="8111780" y="4296221"/>
            <a:ext cx="1427844" cy="326128"/>
          </a:xfrm>
          <a:prstGeom prst="roundRect">
            <a:avLst>
              <a:gd name="adj" fmla="val 50000"/>
            </a:avLst>
          </a:prstGeom>
          <a:solidFill>
            <a:srgbClr val="E6F8FB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64103" y="4373612"/>
            <a:ext cx="171346" cy="17134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511546" y="4372198"/>
            <a:ext cx="951905" cy="212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Второй чип</a:t>
            </a:r>
            <a:endParaRPr lang="en-US" sz="1125" dirty="0"/>
          </a:p>
        </p:txBody>
      </p:sp>
      <p:sp>
        <p:nvSpPr>
          <p:cNvPr id="39" name="Shape 32"/>
          <p:cNvSpPr/>
          <p:nvPr/>
        </p:nvSpPr>
        <p:spPr>
          <a:xfrm>
            <a:off x="9634874" y="4296221"/>
            <a:ext cx="542511" cy="326128"/>
          </a:xfrm>
          <a:prstGeom prst="roundRect">
            <a:avLst>
              <a:gd name="adj" fmla="val 50000"/>
            </a:avLst>
          </a:prstGeom>
          <a:solidFill>
            <a:srgbClr val="373660"/>
          </a:solidFill>
          <a:ln/>
        </p:spPr>
      </p:sp>
      <p:sp>
        <p:nvSpPr>
          <p:cNvPr id="40" name="Text 33"/>
          <p:cNvSpPr/>
          <p:nvPr/>
        </p:nvSpPr>
        <p:spPr>
          <a:xfrm>
            <a:off x="9787274" y="4372421"/>
            <a:ext cx="313911" cy="211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Тег</a:t>
            </a:r>
            <a:endParaRPr lang="en-US" sz="1125" dirty="0"/>
          </a:p>
        </p:txBody>
      </p:sp>
      <p:sp>
        <p:nvSpPr>
          <p:cNvPr id="41" name="Text 34"/>
          <p:cNvSpPr/>
          <p:nvPr/>
        </p:nvSpPr>
        <p:spPr>
          <a:xfrm>
            <a:off x="762000" y="4955335"/>
            <a:ext cx="557400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КРУПНАЯ НУМЕРАЦИЯ</a:t>
            </a:r>
            <a:endParaRPr lang="en-US" sz="1125" dirty="0"/>
          </a:p>
        </p:txBody>
      </p:sp>
      <p:sp>
        <p:nvSpPr>
          <p:cNvPr id="42" name="Text 35"/>
          <p:cNvSpPr/>
          <p:nvPr/>
        </p:nvSpPr>
        <p:spPr>
          <a:xfrm>
            <a:off x="762000" y="5281585"/>
            <a:ext cx="543650" cy="476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656"/>
              </a:lnSpc>
              <a:buNone/>
            </a:pPr>
            <a:r>
              <a:rPr lang="en-US" sz="3450" b="1" dirty="0">
                <a:solidFill>
                  <a:srgbClr val="FFB4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450" dirty="0"/>
          </a:p>
        </p:txBody>
      </p:sp>
      <p:sp>
        <p:nvSpPr>
          <p:cNvPr id="43" name="Text 36"/>
          <p:cNvSpPr/>
          <p:nvPr/>
        </p:nvSpPr>
        <p:spPr>
          <a:xfrm>
            <a:off x="1362748" y="5500297"/>
            <a:ext cx="1504950" cy="634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 слайдов с 2–4 крупными пунктами</a:t>
            </a:r>
            <a:endParaRPr lang="en-US" sz="1275" dirty="0"/>
          </a:p>
        </p:txBody>
      </p:sp>
      <p:sp>
        <p:nvSpPr>
          <p:cNvPr id="44" name="Text 37"/>
          <p:cNvSpPr/>
          <p:nvPr/>
        </p:nvSpPr>
        <p:spPr>
          <a:xfrm>
            <a:off x="3058095" y="5281585"/>
            <a:ext cx="630358" cy="476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656"/>
              </a:lnSpc>
              <a:buNone/>
            </a:pPr>
            <a:r>
              <a:rPr lang="en-US" sz="3450" b="1" dirty="0">
                <a:solidFill>
                  <a:srgbClr val="00B9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450" dirty="0"/>
          </a:p>
        </p:txBody>
      </p:sp>
      <p:sp>
        <p:nvSpPr>
          <p:cNvPr id="45" name="Text 38"/>
          <p:cNvSpPr/>
          <p:nvPr/>
        </p:nvSpPr>
        <p:spPr>
          <a:xfrm>
            <a:off x="3745551" y="5500297"/>
            <a:ext cx="1504950" cy="833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Цвета чередуются: оранжевый, голубой</a:t>
            </a:r>
            <a:endParaRPr lang="en-US" sz="1275" dirty="0"/>
          </a:p>
        </p:txBody>
      </p:sp>
      <p:sp>
        <p:nvSpPr>
          <p:cNvPr id="46" name="Text 39"/>
          <p:cNvSpPr/>
          <p:nvPr/>
        </p:nvSpPr>
        <p:spPr>
          <a:xfrm>
            <a:off x="6362597" y="4955335"/>
            <a:ext cx="5574144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ТЁМНОМ ФОНЕ</a:t>
            </a:r>
            <a:endParaRPr lang="en-US" sz="1125" dirty="0"/>
          </a:p>
        </p:txBody>
      </p:sp>
      <p:sp>
        <p:nvSpPr>
          <p:cNvPr id="47" name="Shape 40"/>
          <p:cNvSpPr/>
          <p:nvPr/>
        </p:nvSpPr>
        <p:spPr>
          <a:xfrm>
            <a:off x="6362597" y="5281585"/>
            <a:ext cx="5067403" cy="1161895"/>
          </a:xfrm>
          <a:prstGeom prst="roundRect">
            <a:avLst>
              <a:gd name="adj" fmla="val 16396"/>
            </a:avLst>
          </a:prstGeom>
          <a:solidFill>
            <a:srgbClr val="373660"/>
          </a:solidFill>
          <a:ln/>
        </p:spPr>
      </p:sp>
      <p:sp>
        <p:nvSpPr>
          <p:cNvPr id="48" name="Shape 41"/>
          <p:cNvSpPr/>
          <p:nvPr/>
        </p:nvSpPr>
        <p:spPr>
          <a:xfrm>
            <a:off x="6591145" y="5491116"/>
            <a:ext cx="304774" cy="304774"/>
          </a:xfrm>
          <a:prstGeom prst="ellipse">
            <a:avLst/>
          </a:prstGeom>
          <a:solidFill>
            <a:srgbClr val="FFB401"/>
          </a:solidFill>
          <a:ln/>
        </p:spPr>
      </p:sp>
      <p:sp>
        <p:nvSpPr>
          <p:cNvPr id="49" name="Text 42"/>
          <p:cNvSpPr/>
          <p:nvPr/>
        </p:nvSpPr>
        <p:spPr>
          <a:xfrm>
            <a:off x="6553045" y="5491116"/>
            <a:ext cx="380974" cy="3428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25" dirty="0"/>
          </a:p>
        </p:txBody>
      </p:sp>
      <p:sp>
        <p:nvSpPr>
          <p:cNvPr id="50" name="Text 43"/>
          <p:cNvSpPr/>
          <p:nvPr/>
        </p:nvSpPr>
        <p:spPr>
          <a:xfrm>
            <a:off x="7029218" y="5544043"/>
            <a:ext cx="3458002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Кружок — оранжевый, цифра тёмная</a:t>
            </a:r>
            <a:endParaRPr lang="en-US" sz="1275" dirty="0"/>
          </a:p>
        </p:txBody>
      </p:sp>
      <p:sp>
        <p:nvSpPr>
          <p:cNvPr id="51" name="Shape 44"/>
          <p:cNvSpPr/>
          <p:nvPr/>
        </p:nvSpPr>
        <p:spPr>
          <a:xfrm>
            <a:off x="6591145" y="5929182"/>
            <a:ext cx="304774" cy="304774"/>
          </a:xfrm>
          <a:prstGeom prst="ellipse">
            <a:avLst/>
          </a:prstGeom>
          <a:ln w="19050">
            <a:solidFill>
              <a:srgbClr val="00B9D2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6572095" y="5948232"/>
            <a:ext cx="342874" cy="304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B9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25" dirty="0"/>
          </a:p>
        </p:txBody>
      </p:sp>
      <p:sp>
        <p:nvSpPr>
          <p:cNvPr id="53" name="Text 46"/>
          <p:cNvSpPr/>
          <p:nvPr/>
        </p:nvSpPr>
        <p:spPr>
          <a:xfrm>
            <a:off x="7029218" y="5982119"/>
            <a:ext cx="2069876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Контурный — голубой</a:t>
            </a:r>
            <a:endParaRPr lang="en-US" sz="1275" dirty="0"/>
          </a:p>
        </p:txBody>
      </p:sp>
      <p:sp>
        <p:nvSpPr>
          <p:cNvPr id="54" name="Text 47"/>
          <p:cNvSpPr/>
          <p:nvPr/>
        </p:nvSpPr>
        <p:spPr>
          <a:xfrm>
            <a:off x="762000" y="630306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55" name="Text 48"/>
          <p:cNvSpPr/>
          <p:nvPr/>
        </p:nvSpPr>
        <p:spPr>
          <a:xfrm>
            <a:off x="11237301" y="6303066"/>
            <a:ext cx="26890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11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44"/>
            <a:ext cx="11734800" cy="519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Где мы на рынке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 rot="-5400000">
            <a:off x="99469" y="3345538"/>
            <a:ext cx="1819275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35" kern="0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ГЛУБИНА СЕРВИСА</a:t>
            </a:r>
            <a:endParaRPr lang="en-US" sz="1125" dirty="0"/>
          </a:p>
        </p:txBody>
      </p:sp>
      <p:sp>
        <p:nvSpPr>
          <p:cNvPr id="4" name="Shape 2"/>
          <p:cNvSpPr/>
          <p:nvPr/>
        </p:nvSpPr>
        <p:spPr>
          <a:xfrm>
            <a:off x="1409596" y="1396138"/>
            <a:ext cx="4933976" cy="1959484"/>
          </a:xfrm>
          <a:prstGeom prst="roundRect">
            <a:avLst>
              <a:gd name="adj" fmla="val 9722"/>
            </a:avLst>
          </a:prstGeom>
          <a:solidFill>
            <a:srgbClr val="FAFAFC"/>
          </a:solidFill>
          <a:ln w="9525">
            <a:solidFill>
              <a:srgbClr val="E4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84476" y="1651992"/>
            <a:ext cx="482264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НИШЕВЫЕ СЕРВИСЫ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1684476" y="1921176"/>
            <a:ext cx="4515744" cy="544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54"/>
              </a:lnSpc>
              <a:buNone/>
            </a:pPr>
            <a:r>
              <a:rPr lang="en-US" sz="14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Узкий охват, сильная экспертиза в одном направлении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6495895" y="1396138"/>
            <a:ext cx="4934105" cy="1959484"/>
          </a:xfrm>
          <a:prstGeom prst="roundRect">
            <a:avLst>
              <a:gd name="adj" fmla="val 9722"/>
            </a:avLst>
          </a:prstGeom>
          <a:solidFill>
            <a:srgbClr val="FFB401"/>
          </a:solidFill>
          <a:ln w="9525">
            <a:solidFill>
              <a:srgbClr val="FFB40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70774" y="1651992"/>
            <a:ext cx="482278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МЫ ЗДЕСЬ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770774" y="1940198"/>
            <a:ext cx="4515878" cy="607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97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цикл: подбор, запись, отзыв, повторный визит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409596" y="3507944"/>
            <a:ext cx="4933976" cy="1959614"/>
          </a:xfrm>
          <a:prstGeom prst="roundRect">
            <a:avLst>
              <a:gd name="adj" fmla="val 9721"/>
            </a:avLst>
          </a:prstGeom>
          <a:solidFill>
            <a:srgbClr val="FFFFFF"/>
          </a:solidFill>
          <a:ln w="9525">
            <a:solidFill>
              <a:srgbClr val="E4E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4476" y="3763798"/>
            <a:ext cx="482264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СПРАВОЧНИКИ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684476" y="4032982"/>
            <a:ext cx="4822640" cy="29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54"/>
              </a:lnSpc>
              <a:buNone/>
            </a:pPr>
            <a:r>
              <a:rPr lang="en-US" sz="14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Каталог без записи и обратной связи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6495895" y="3507944"/>
            <a:ext cx="4934105" cy="1959614"/>
          </a:xfrm>
          <a:prstGeom prst="roundRect">
            <a:avLst>
              <a:gd name="adj" fmla="val 9721"/>
            </a:avLst>
          </a:prstGeom>
          <a:solidFill>
            <a:srgbClr val="FFFFFF"/>
          </a:solidFill>
          <a:ln w="9525">
            <a:solidFill>
              <a:srgbClr val="E4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70774" y="3763798"/>
            <a:ext cx="482278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АГРЕГАТОРЫ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770774" y="4032982"/>
            <a:ext cx="4822782" cy="29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54"/>
              </a:lnSpc>
              <a:buNone/>
            </a:pPr>
            <a:r>
              <a:rPr lang="en-US" sz="14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Широкий охват, поверхностный сценарий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5158254" y="5694806"/>
            <a:ext cx="2775256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35" kern="0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ОХВАТ КЛИНИК И ГОРОДОВ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762000" y="630306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1280137" y="6303066"/>
            <a:ext cx="226063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53"/>
            <a:ext cx="11734800" cy="519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меняется для клиники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357964"/>
            <a:ext cx="3473001" cy="459685"/>
          </a:xfrm>
          <a:prstGeom prst="roundRect">
            <a:avLst>
              <a:gd name="adj" fmla="val 24865"/>
            </a:avLst>
          </a:prstGeom>
          <a:solidFill>
            <a:srgbClr val="00B9D2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1500839"/>
            <a:ext cx="3196191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Показатель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4368300" y="1357964"/>
            <a:ext cx="2778427" cy="459685"/>
          </a:xfrm>
          <a:prstGeom prst="roundRect">
            <a:avLst>
              <a:gd name="adj" fmla="val 24865"/>
            </a:avLst>
          </a:prstGeom>
          <a:solidFill>
            <a:srgbClr val="F5F5F8"/>
          </a:solidFill>
          <a:ln/>
        </p:spPr>
      </p:sp>
      <p:sp>
        <p:nvSpPr>
          <p:cNvPr id="6" name="Text 4"/>
          <p:cNvSpPr/>
          <p:nvPr/>
        </p:nvSpPr>
        <p:spPr>
          <a:xfrm>
            <a:off x="4558800" y="1500839"/>
            <a:ext cx="248078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сервиса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7280025" y="1357964"/>
            <a:ext cx="2778427" cy="459685"/>
          </a:xfrm>
          <a:prstGeom prst="roundRect">
            <a:avLst>
              <a:gd name="adj" fmla="val 24865"/>
            </a:avLst>
          </a:prstGeom>
          <a:solidFill>
            <a:srgbClr val="FFB401"/>
          </a:solidFill>
          <a:ln/>
        </p:spPr>
      </p:sp>
      <p:sp>
        <p:nvSpPr>
          <p:cNvPr id="8" name="Text 6"/>
          <p:cNvSpPr/>
          <p:nvPr/>
        </p:nvSpPr>
        <p:spPr>
          <a:xfrm>
            <a:off x="7470525" y="1500839"/>
            <a:ext cx="248078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 сервисом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762000" y="2116336"/>
            <a:ext cx="3473001" cy="503427"/>
          </a:xfrm>
          <a:prstGeom prst="roundRect">
            <a:avLst>
              <a:gd name="adj" fmla="val 22704"/>
            </a:avLst>
          </a:prstGeom>
          <a:solidFill>
            <a:srgbClr val="E6F8FB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268736"/>
            <a:ext cx="3196191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Записи в месяц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4368300" y="2092523"/>
            <a:ext cx="2778427" cy="551052"/>
          </a:xfrm>
          <a:prstGeom prst="roundRect">
            <a:avLst>
              <a:gd name="adj" fmla="val 20742"/>
            </a:avLst>
          </a:prstGeom>
          <a:solidFill>
            <a:srgbClr val="F5F5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58800" y="2206796"/>
            <a:ext cx="2637170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340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4558800" y="2472230"/>
            <a:ext cx="2397427" cy="57072"/>
          </a:xfrm>
          <a:prstGeom prst="roundRect">
            <a:avLst>
              <a:gd name="adj" fmla="val 50000"/>
            </a:avLst>
          </a:prstGeom>
          <a:solidFill>
            <a:srgbClr val="E4E4EC"/>
          </a:solidFill>
          <a:ln/>
        </p:spPr>
      </p:sp>
      <p:sp>
        <p:nvSpPr>
          <p:cNvPr id="14" name="Shape 12"/>
          <p:cNvSpPr/>
          <p:nvPr/>
        </p:nvSpPr>
        <p:spPr>
          <a:xfrm>
            <a:off x="4558800" y="2472230"/>
            <a:ext cx="1366501" cy="57072"/>
          </a:xfrm>
          <a:prstGeom prst="roundRect">
            <a:avLst>
              <a:gd name="adj" fmla="val 50000"/>
            </a:avLst>
          </a:prstGeom>
          <a:solidFill>
            <a:srgbClr val="B0AFBF"/>
          </a:solidFill>
          <a:ln/>
        </p:spPr>
      </p:sp>
      <p:sp>
        <p:nvSpPr>
          <p:cNvPr id="15" name="Shape 13"/>
          <p:cNvSpPr/>
          <p:nvPr/>
        </p:nvSpPr>
        <p:spPr>
          <a:xfrm>
            <a:off x="7280025" y="2084245"/>
            <a:ext cx="2778427" cy="567618"/>
          </a:xfrm>
          <a:prstGeom prst="roundRect">
            <a:avLst>
              <a:gd name="adj" fmla="val 20137"/>
            </a:avLst>
          </a:prstGeom>
          <a:solidFill>
            <a:srgbClr val="FFF8E6"/>
          </a:solidFill>
          <a:ln/>
        </p:spPr>
      </p:sp>
      <p:sp>
        <p:nvSpPr>
          <p:cNvPr id="16" name="Text 14"/>
          <p:cNvSpPr/>
          <p:nvPr/>
        </p:nvSpPr>
        <p:spPr>
          <a:xfrm>
            <a:off x="7470525" y="2198517"/>
            <a:ext cx="2637170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480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7470525" y="2480509"/>
            <a:ext cx="2397427" cy="57072"/>
          </a:xfrm>
          <a:prstGeom prst="roundRect">
            <a:avLst>
              <a:gd name="adj" fmla="val 50000"/>
            </a:avLst>
          </a:prstGeom>
          <a:solidFill>
            <a:srgbClr val="FFECBF"/>
          </a:solidFill>
          <a:ln/>
        </p:spPr>
      </p:sp>
      <p:sp>
        <p:nvSpPr>
          <p:cNvPr id="18" name="Shape 16"/>
          <p:cNvSpPr/>
          <p:nvPr/>
        </p:nvSpPr>
        <p:spPr>
          <a:xfrm>
            <a:off x="7470525" y="2480509"/>
            <a:ext cx="1917942" cy="57072"/>
          </a:xfrm>
          <a:prstGeom prst="roundRect">
            <a:avLst>
              <a:gd name="adj" fmla="val 50000"/>
            </a:avLst>
          </a:prstGeom>
          <a:solidFill>
            <a:srgbClr val="FFB401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07640" y="2204991"/>
            <a:ext cx="622360" cy="326128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/>
        </p:spPr>
      </p:sp>
      <p:sp>
        <p:nvSpPr>
          <p:cNvPr id="20" name="Text 18"/>
          <p:cNvSpPr/>
          <p:nvPr/>
        </p:nvSpPr>
        <p:spPr>
          <a:xfrm>
            <a:off x="10940990" y="2281191"/>
            <a:ext cx="431860" cy="2118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3D3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+41%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762000" y="2817251"/>
            <a:ext cx="3473001" cy="503427"/>
          </a:xfrm>
          <a:prstGeom prst="roundRect">
            <a:avLst>
              <a:gd name="adj" fmla="val 22704"/>
            </a:avLst>
          </a:prstGeom>
          <a:solidFill>
            <a:srgbClr val="E6F8FB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2969651"/>
            <a:ext cx="3196191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Доля онлайн-записи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4368300" y="2793439"/>
            <a:ext cx="2778427" cy="551052"/>
          </a:xfrm>
          <a:prstGeom prst="roundRect">
            <a:avLst>
              <a:gd name="adj" fmla="val 20742"/>
            </a:avLst>
          </a:prstGeom>
          <a:solidFill>
            <a:srgbClr val="F5F5F8"/>
          </a:solidFill>
          <a:ln/>
        </p:spPr>
      </p:sp>
      <p:sp>
        <p:nvSpPr>
          <p:cNvPr id="24" name="Text 22"/>
          <p:cNvSpPr/>
          <p:nvPr/>
        </p:nvSpPr>
        <p:spPr>
          <a:xfrm>
            <a:off x="4558800" y="2907711"/>
            <a:ext cx="2637170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18%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4558800" y="3173146"/>
            <a:ext cx="2397427" cy="57072"/>
          </a:xfrm>
          <a:prstGeom prst="roundRect">
            <a:avLst>
              <a:gd name="adj" fmla="val 50000"/>
            </a:avLst>
          </a:prstGeom>
          <a:solidFill>
            <a:srgbClr val="E4E4EC"/>
          </a:solidFill>
          <a:ln/>
        </p:spPr>
      </p:sp>
      <p:sp>
        <p:nvSpPr>
          <p:cNvPr id="26" name="Shape 24"/>
          <p:cNvSpPr/>
          <p:nvPr/>
        </p:nvSpPr>
        <p:spPr>
          <a:xfrm>
            <a:off x="4558800" y="3173146"/>
            <a:ext cx="431472" cy="57072"/>
          </a:xfrm>
          <a:prstGeom prst="roundRect">
            <a:avLst>
              <a:gd name="adj" fmla="val 50000"/>
            </a:avLst>
          </a:prstGeom>
          <a:solidFill>
            <a:srgbClr val="B0AFBF"/>
          </a:solidFill>
          <a:ln/>
        </p:spPr>
      </p:sp>
      <p:sp>
        <p:nvSpPr>
          <p:cNvPr id="27" name="Shape 25"/>
          <p:cNvSpPr/>
          <p:nvPr/>
        </p:nvSpPr>
        <p:spPr>
          <a:xfrm>
            <a:off x="7280025" y="2785160"/>
            <a:ext cx="2778427" cy="567618"/>
          </a:xfrm>
          <a:prstGeom prst="roundRect">
            <a:avLst>
              <a:gd name="adj" fmla="val 20137"/>
            </a:avLst>
          </a:prstGeom>
          <a:solidFill>
            <a:srgbClr val="FFF8E6"/>
          </a:solidFill>
          <a:ln/>
        </p:spPr>
      </p:sp>
      <p:sp>
        <p:nvSpPr>
          <p:cNvPr id="28" name="Text 26"/>
          <p:cNvSpPr/>
          <p:nvPr/>
        </p:nvSpPr>
        <p:spPr>
          <a:xfrm>
            <a:off x="7470525" y="2899432"/>
            <a:ext cx="2637170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64%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7470525" y="3181424"/>
            <a:ext cx="2397427" cy="57072"/>
          </a:xfrm>
          <a:prstGeom prst="roundRect">
            <a:avLst>
              <a:gd name="adj" fmla="val 50000"/>
            </a:avLst>
          </a:prstGeom>
          <a:solidFill>
            <a:srgbClr val="FFECBF"/>
          </a:solidFill>
          <a:ln/>
        </p:spPr>
      </p:sp>
      <p:sp>
        <p:nvSpPr>
          <p:cNvPr id="30" name="Shape 28"/>
          <p:cNvSpPr/>
          <p:nvPr/>
        </p:nvSpPr>
        <p:spPr>
          <a:xfrm>
            <a:off x="7470525" y="3181424"/>
            <a:ext cx="1534353" cy="57072"/>
          </a:xfrm>
          <a:prstGeom prst="roundRect">
            <a:avLst>
              <a:gd name="adj" fmla="val 50000"/>
            </a:avLst>
          </a:prstGeom>
          <a:solidFill>
            <a:srgbClr val="FFB401"/>
          </a:solidFill>
          <a:ln/>
        </p:spPr>
      </p:sp>
      <p:sp>
        <p:nvSpPr>
          <p:cNvPr id="31" name="Shape 29"/>
          <p:cNvSpPr/>
          <p:nvPr/>
        </p:nvSpPr>
        <p:spPr>
          <a:xfrm>
            <a:off x="10588022" y="2905906"/>
            <a:ext cx="841979" cy="326128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/>
        </p:spPr>
      </p:sp>
      <p:sp>
        <p:nvSpPr>
          <p:cNvPr id="32" name="Text 30"/>
          <p:cNvSpPr/>
          <p:nvPr/>
        </p:nvSpPr>
        <p:spPr>
          <a:xfrm>
            <a:off x="10721372" y="2982106"/>
            <a:ext cx="651479" cy="2118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3D3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+46 п.п.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762000" y="3518167"/>
            <a:ext cx="3473001" cy="503427"/>
          </a:xfrm>
          <a:prstGeom prst="roundRect">
            <a:avLst>
              <a:gd name="adj" fmla="val 22704"/>
            </a:avLst>
          </a:prstGeom>
          <a:solidFill>
            <a:srgbClr val="E6F8FB"/>
          </a:solidFill>
          <a:ln/>
        </p:spPr>
      </p:sp>
      <p:sp>
        <p:nvSpPr>
          <p:cNvPr id="34" name="Text 32"/>
          <p:cNvSpPr/>
          <p:nvPr/>
        </p:nvSpPr>
        <p:spPr>
          <a:xfrm>
            <a:off x="952500" y="3670567"/>
            <a:ext cx="3196191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Неявки на приём</a:t>
            </a:r>
            <a:endParaRPr lang="en-US" sz="1275" dirty="0"/>
          </a:p>
        </p:txBody>
      </p:sp>
      <p:sp>
        <p:nvSpPr>
          <p:cNvPr id="35" name="Shape 33"/>
          <p:cNvSpPr/>
          <p:nvPr/>
        </p:nvSpPr>
        <p:spPr>
          <a:xfrm>
            <a:off x="4368300" y="3494354"/>
            <a:ext cx="2778427" cy="551052"/>
          </a:xfrm>
          <a:prstGeom prst="roundRect">
            <a:avLst>
              <a:gd name="adj" fmla="val 20742"/>
            </a:avLst>
          </a:prstGeom>
          <a:solidFill>
            <a:srgbClr val="F5F5F8"/>
          </a:solidFill>
          <a:ln/>
        </p:spPr>
      </p:sp>
      <p:sp>
        <p:nvSpPr>
          <p:cNvPr id="36" name="Text 34"/>
          <p:cNvSpPr/>
          <p:nvPr/>
        </p:nvSpPr>
        <p:spPr>
          <a:xfrm>
            <a:off x="4558800" y="3608626"/>
            <a:ext cx="2637170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21%</a:t>
            </a:r>
            <a:endParaRPr lang="en-US" sz="1275" dirty="0"/>
          </a:p>
        </p:txBody>
      </p:sp>
      <p:sp>
        <p:nvSpPr>
          <p:cNvPr id="37" name="Shape 35"/>
          <p:cNvSpPr/>
          <p:nvPr/>
        </p:nvSpPr>
        <p:spPr>
          <a:xfrm>
            <a:off x="4558800" y="3874061"/>
            <a:ext cx="2397427" cy="57072"/>
          </a:xfrm>
          <a:prstGeom prst="roundRect">
            <a:avLst>
              <a:gd name="adj" fmla="val 50000"/>
            </a:avLst>
          </a:prstGeom>
          <a:solidFill>
            <a:srgbClr val="E4E4EC"/>
          </a:solidFill>
          <a:ln/>
        </p:spPr>
      </p:sp>
      <p:sp>
        <p:nvSpPr>
          <p:cNvPr id="38" name="Shape 36"/>
          <p:cNvSpPr/>
          <p:nvPr/>
        </p:nvSpPr>
        <p:spPr>
          <a:xfrm>
            <a:off x="4558800" y="3874061"/>
            <a:ext cx="1678134" cy="57072"/>
          </a:xfrm>
          <a:prstGeom prst="roundRect">
            <a:avLst>
              <a:gd name="adj" fmla="val 50000"/>
            </a:avLst>
          </a:prstGeom>
          <a:solidFill>
            <a:srgbClr val="B0AFBF"/>
          </a:solidFill>
          <a:ln/>
        </p:spPr>
      </p:sp>
      <p:sp>
        <p:nvSpPr>
          <p:cNvPr id="39" name="Shape 37"/>
          <p:cNvSpPr/>
          <p:nvPr/>
        </p:nvSpPr>
        <p:spPr>
          <a:xfrm>
            <a:off x="7280025" y="3486076"/>
            <a:ext cx="2778427" cy="567618"/>
          </a:xfrm>
          <a:prstGeom prst="roundRect">
            <a:avLst>
              <a:gd name="adj" fmla="val 20137"/>
            </a:avLst>
          </a:prstGeom>
          <a:solidFill>
            <a:srgbClr val="FFF8E6"/>
          </a:solidFill>
          <a:ln/>
        </p:spPr>
      </p:sp>
      <p:sp>
        <p:nvSpPr>
          <p:cNvPr id="40" name="Text 38"/>
          <p:cNvSpPr/>
          <p:nvPr/>
        </p:nvSpPr>
        <p:spPr>
          <a:xfrm>
            <a:off x="7470525" y="3600348"/>
            <a:ext cx="2637170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9%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7470525" y="3882349"/>
            <a:ext cx="2397427" cy="57072"/>
          </a:xfrm>
          <a:prstGeom prst="roundRect">
            <a:avLst>
              <a:gd name="adj" fmla="val 50000"/>
            </a:avLst>
          </a:prstGeom>
          <a:solidFill>
            <a:srgbClr val="FFECBF"/>
          </a:solidFill>
          <a:ln/>
        </p:spPr>
      </p:sp>
      <p:sp>
        <p:nvSpPr>
          <p:cNvPr id="42" name="Shape 40"/>
          <p:cNvSpPr/>
          <p:nvPr/>
        </p:nvSpPr>
        <p:spPr>
          <a:xfrm>
            <a:off x="7470525" y="3882349"/>
            <a:ext cx="719163" cy="57072"/>
          </a:xfrm>
          <a:prstGeom prst="roundRect">
            <a:avLst>
              <a:gd name="adj" fmla="val 50000"/>
            </a:avLst>
          </a:prstGeom>
          <a:solidFill>
            <a:srgbClr val="FFB401"/>
          </a:solidFill>
          <a:ln/>
        </p:spPr>
      </p:sp>
      <p:sp>
        <p:nvSpPr>
          <p:cNvPr id="43" name="Shape 41"/>
          <p:cNvSpPr/>
          <p:nvPr/>
        </p:nvSpPr>
        <p:spPr>
          <a:xfrm>
            <a:off x="10640694" y="3606822"/>
            <a:ext cx="789307" cy="326128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/>
        </p:spPr>
      </p:sp>
      <p:sp>
        <p:nvSpPr>
          <p:cNvPr id="44" name="Text 42"/>
          <p:cNvSpPr/>
          <p:nvPr/>
        </p:nvSpPr>
        <p:spPr>
          <a:xfrm>
            <a:off x="10774044" y="3683022"/>
            <a:ext cx="598807" cy="2118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3D3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−12 п.п.</a:t>
            </a:r>
            <a:endParaRPr lang="en-US" sz="1125" dirty="0"/>
          </a:p>
        </p:txBody>
      </p:sp>
      <p:sp>
        <p:nvSpPr>
          <p:cNvPr id="45" name="Shape 43"/>
          <p:cNvSpPr/>
          <p:nvPr/>
        </p:nvSpPr>
        <p:spPr>
          <a:xfrm>
            <a:off x="762000" y="4219082"/>
            <a:ext cx="3473001" cy="503427"/>
          </a:xfrm>
          <a:prstGeom prst="roundRect">
            <a:avLst>
              <a:gd name="adj" fmla="val 22704"/>
            </a:avLst>
          </a:prstGeom>
          <a:solidFill>
            <a:srgbClr val="E6F8FB"/>
          </a:solidFill>
          <a:ln/>
        </p:spPr>
      </p:sp>
      <p:sp>
        <p:nvSpPr>
          <p:cNvPr id="46" name="Text 44"/>
          <p:cNvSpPr/>
          <p:nvPr/>
        </p:nvSpPr>
        <p:spPr>
          <a:xfrm>
            <a:off x="952500" y="4371482"/>
            <a:ext cx="3196191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Средний рейтинг</a:t>
            </a:r>
            <a:endParaRPr lang="en-US" sz="1275" dirty="0"/>
          </a:p>
        </p:txBody>
      </p:sp>
      <p:sp>
        <p:nvSpPr>
          <p:cNvPr id="47" name="Shape 45"/>
          <p:cNvSpPr/>
          <p:nvPr/>
        </p:nvSpPr>
        <p:spPr>
          <a:xfrm>
            <a:off x="4368300" y="4195270"/>
            <a:ext cx="2778427" cy="551052"/>
          </a:xfrm>
          <a:prstGeom prst="roundRect">
            <a:avLst>
              <a:gd name="adj" fmla="val 20742"/>
            </a:avLst>
          </a:prstGeom>
          <a:solidFill>
            <a:srgbClr val="F5F5F8"/>
          </a:solidFill>
          <a:ln/>
        </p:spPr>
      </p:sp>
      <p:sp>
        <p:nvSpPr>
          <p:cNvPr id="48" name="Text 46"/>
          <p:cNvSpPr/>
          <p:nvPr/>
        </p:nvSpPr>
        <p:spPr>
          <a:xfrm>
            <a:off x="4558800" y="4309551"/>
            <a:ext cx="2637170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4,1</a:t>
            </a:r>
            <a:endParaRPr lang="en-US" sz="1275" dirty="0"/>
          </a:p>
        </p:txBody>
      </p:sp>
      <p:sp>
        <p:nvSpPr>
          <p:cNvPr id="49" name="Shape 47"/>
          <p:cNvSpPr/>
          <p:nvPr/>
        </p:nvSpPr>
        <p:spPr>
          <a:xfrm>
            <a:off x="4558800" y="4574977"/>
            <a:ext cx="2397427" cy="57072"/>
          </a:xfrm>
          <a:prstGeom prst="roundRect">
            <a:avLst>
              <a:gd name="adj" fmla="val 50000"/>
            </a:avLst>
          </a:prstGeom>
          <a:solidFill>
            <a:srgbClr val="E4E4EC"/>
          </a:solidFill>
          <a:ln/>
        </p:spPr>
      </p:sp>
      <p:sp>
        <p:nvSpPr>
          <p:cNvPr id="50" name="Shape 48"/>
          <p:cNvSpPr/>
          <p:nvPr/>
        </p:nvSpPr>
        <p:spPr>
          <a:xfrm>
            <a:off x="4558800" y="4574977"/>
            <a:ext cx="1965826" cy="57072"/>
          </a:xfrm>
          <a:prstGeom prst="roundRect">
            <a:avLst>
              <a:gd name="adj" fmla="val 50000"/>
            </a:avLst>
          </a:prstGeom>
          <a:solidFill>
            <a:srgbClr val="B0AFBF"/>
          </a:solidFill>
          <a:ln/>
        </p:spPr>
      </p:sp>
      <p:sp>
        <p:nvSpPr>
          <p:cNvPr id="51" name="Shape 49"/>
          <p:cNvSpPr/>
          <p:nvPr/>
        </p:nvSpPr>
        <p:spPr>
          <a:xfrm>
            <a:off x="7280025" y="4186991"/>
            <a:ext cx="2778427" cy="567618"/>
          </a:xfrm>
          <a:prstGeom prst="roundRect">
            <a:avLst>
              <a:gd name="adj" fmla="val 20137"/>
            </a:avLst>
          </a:prstGeom>
          <a:solidFill>
            <a:srgbClr val="FFF8E6"/>
          </a:solidFill>
          <a:ln/>
        </p:spPr>
      </p:sp>
      <p:sp>
        <p:nvSpPr>
          <p:cNvPr id="52" name="Text 50"/>
          <p:cNvSpPr/>
          <p:nvPr/>
        </p:nvSpPr>
        <p:spPr>
          <a:xfrm>
            <a:off x="7470525" y="4301263"/>
            <a:ext cx="2637170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4,7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7470525" y="4583264"/>
            <a:ext cx="2397427" cy="57072"/>
          </a:xfrm>
          <a:prstGeom prst="roundRect">
            <a:avLst>
              <a:gd name="adj" fmla="val 50000"/>
            </a:avLst>
          </a:prstGeom>
          <a:solidFill>
            <a:srgbClr val="FFECB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70525" y="4583264"/>
            <a:ext cx="2253517" cy="57072"/>
          </a:xfrm>
          <a:prstGeom prst="roundRect">
            <a:avLst>
              <a:gd name="adj" fmla="val 50000"/>
            </a:avLst>
          </a:prstGeom>
          <a:solidFill>
            <a:srgbClr val="FFB401"/>
          </a:solidFill>
          <a:ln/>
        </p:spPr>
      </p:sp>
      <p:sp>
        <p:nvSpPr>
          <p:cNvPr id="55" name="Shape 53"/>
          <p:cNvSpPr/>
          <p:nvPr/>
        </p:nvSpPr>
        <p:spPr>
          <a:xfrm>
            <a:off x="10861218" y="4307737"/>
            <a:ext cx="568782" cy="326128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/>
        </p:spPr>
      </p:sp>
      <p:sp>
        <p:nvSpPr>
          <p:cNvPr id="56" name="Text 54"/>
          <p:cNvSpPr/>
          <p:nvPr/>
        </p:nvSpPr>
        <p:spPr>
          <a:xfrm>
            <a:off x="10994568" y="4383937"/>
            <a:ext cx="378282" cy="2118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3D3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+0,6</a:t>
            </a:r>
            <a:endParaRPr lang="en-US" sz="1125" dirty="0"/>
          </a:p>
        </p:txBody>
      </p:sp>
      <p:sp>
        <p:nvSpPr>
          <p:cNvPr id="57" name="Shape 55"/>
          <p:cNvSpPr/>
          <p:nvPr/>
        </p:nvSpPr>
        <p:spPr>
          <a:xfrm>
            <a:off x="762000" y="5059254"/>
            <a:ext cx="3454495" cy="704798"/>
          </a:xfrm>
          <a:prstGeom prst="roundRect">
            <a:avLst>
              <a:gd name="adj" fmla="val 21623"/>
            </a:avLst>
          </a:prstGeom>
          <a:solidFill>
            <a:srgbClr val="E6F8FB"/>
          </a:solidFill>
          <a:ln/>
        </p:spPr>
      </p:sp>
      <p:sp>
        <p:nvSpPr>
          <p:cNvPr id="58" name="Text 56"/>
          <p:cNvSpPr/>
          <p:nvPr/>
        </p:nvSpPr>
        <p:spPr>
          <a:xfrm>
            <a:off x="990548" y="5249754"/>
            <a:ext cx="490460" cy="361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458"/>
              </a:lnSpc>
              <a:buNone/>
            </a:pPr>
            <a:r>
              <a:rPr lang="en-US" sz="2550" b="1" dirty="0">
                <a:solidFill>
                  <a:srgbClr val="00B9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42</a:t>
            </a:r>
            <a:endParaRPr lang="en-US" sz="2550" dirty="0"/>
          </a:p>
        </p:txBody>
      </p:sp>
      <p:sp>
        <p:nvSpPr>
          <p:cNvPr id="59" name="Text 57"/>
          <p:cNvSpPr/>
          <p:nvPr/>
        </p:nvSpPr>
        <p:spPr>
          <a:xfrm>
            <a:off x="1538106" y="5377876"/>
            <a:ext cx="17134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клиники в выборке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368817" y="5059254"/>
            <a:ext cx="3454495" cy="704798"/>
          </a:xfrm>
          <a:prstGeom prst="roundRect">
            <a:avLst>
              <a:gd name="adj" fmla="val 21623"/>
            </a:avLst>
          </a:prstGeom>
          <a:solidFill>
            <a:srgbClr val="FFF8E6"/>
          </a:solidFill>
          <a:ln/>
        </p:spPr>
      </p:sp>
      <p:sp>
        <p:nvSpPr>
          <p:cNvPr id="61" name="Text 59"/>
          <p:cNvSpPr/>
          <p:nvPr/>
        </p:nvSpPr>
        <p:spPr>
          <a:xfrm>
            <a:off x="4597366" y="5249754"/>
            <a:ext cx="282748" cy="361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458"/>
              </a:lnSpc>
              <a:buNone/>
            </a:pPr>
            <a:r>
              <a:rPr lang="en-US" sz="2550" b="1" dirty="0">
                <a:solidFill>
                  <a:srgbClr val="FFB4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550" dirty="0"/>
          </a:p>
        </p:txBody>
      </p:sp>
      <p:sp>
        <p:nvSpPr>
          <p:cNvPr id="62" name="Text 60"/>
          <p:cNvSpPr/>
          <p:nvPr/>
        </p:nvSpPr>
        <p:spPr>
          <a:xfrm>
            <a:off x="4937212" y="5377876"/>
            <a:ext cx="19071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месяцев наблюдения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975635" y="5059254"/>
            <a:ext cx="3454495" cy="704798"/>
          </a:xfrm>
          <a:prstGeom prst="roundRect">
            <a:avLst>
              <a:gd name="adj" fmla="val 21623"/>
            </a:avLst>
          </a:prstGeom>
          <a:solidFill>
            <a:srgbClr val="F5F5F8"/>
          </a:solidFill>
          <a:ln/>
        </p:spPr>
      </p:sp>
      <p:sp>
        <p:nvSpPr>
          <p:cNvPr id="64" name="Text 62"/>
          <p:cNvSpPr/>
          <p:nvPr/>
        </p:nvSpPr>
        <p:spPr>
          <a:xfrm>
            <a:off x="8204183" y="5249754"/>
            <a:ext cx="759774" cy="361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458"/>
              </a:lnSpc>
              <a:buNone/>
            </a:pPr>
            <a:r>
              <a:rPr lang="en-US" sz="255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9/10</a:t>
            </a:r>
            <a:endParaRPr lang="en-US" sz="2550" dirty="0"/>
          </a:p>
        </p:txBody>
      </p:sp>
      <p:sp>
        <p:nvSpPr>
          <p:cNvPr id="65" name="Text 63"/>
          <p:cNvSpPr/>
          <p:nvPr/>
        </p:nvSpPr>
        <p:spPr>
          <a:xfrm>
            <a:off x="9021055" y="5377876"/>
            <a:ext cx="19559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продлевают подписку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62000" y="630306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67" name="Text 65"/>
          <p:cNvSpPr/>
          <p:nvPr/>
        </p:nvSpPr>
        <p:spPr>
          <a:xfrm>
            <a:off x="11250501" y="6303066"/>
            <a:ext cx="25570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11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63"/>
            <a:ext cx="11734800" cy="519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Календарный план внедрения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3333750" y="1396138"/>
            <a:ext cx="2069306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5405438" y="1396138"/>
            <a:ext cx="2069306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7477125" y="1396138"/>
            <a:ext cx="2069306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548813" y="1396138"/>
            <a:ext cx="2069306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Q4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762000" y="1937352"/>
            <a:ext cx="2619375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Интеграция с МИС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3333750" y="1874844"/>
            <a:ext cx="8096250" cy="323798"/>
          </a:xfrm>
          <a:prstGeom prst="roundRect">
            <a:avLst>
              <a:gd name="adj" fmla="val 50000"/>
            </a:avLst>
          </a:prstGeom>
          <a:solidFill>
            <a:srgbClr val="F3F3F7"/>
          </a:solidFill>
          <a:ln/>
        </p:spPr>
      </p:sp>
      <p:sp>
        <p:nvSpPr>
          <p:cNvPr id="9" name="Shape 7"/>
          <p:cNvSpPr/>
          <p:nvPr/>
        </p:nvSpPr>
        <p:spPr>
          <a:xfrm>
            <a:off x="3333750" y="1874844"/>
            <a:ext cx="1933472" cy="32379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401">
                  <a:alpha val="100000"/>
                </a:srgbClr>
              </a:gs>
              <a:gs pos="100000">
                <a:srgbClr val="FFC93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0" name="Text 8"/>
          <p:cNvSpPr/>
          <p:nvPr/>
        </p:nvSpPr>
        <p:spPr>
          <a:xfrm>
            <a:off x="3486150" y="1874844"/>
            <a:ext cx="1857272" cy="361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недель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762000" y="2413471"/>
            <a:ext cx="2619375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Онбординг клиник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3333750" y="2350963"/>
            <a:ext cx="8096250" cy="323798"/>
          </a:xfrm>
          <a:prstGeom prst="roundRect">
            <a:avLst>
              <a:gd name="adj" fmla="val 50000"/>
            </a:avLst>
          </a:prstGeom>
          <a:solidFill>
            <a:srgbClr val="F3F3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790972" y="2350963"/>
            <a:ext cx="2904996" cy="32379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C93F">
                  <a:alpha val="100000"/>
                </a:srgbClr>
              </a:gs>
              <a:gs pos="100000">
                <a:srgbClr val="FFB401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4" name="Text 12"/>
          <p:cNvSpPr/>
          <p:nvPr/>
        </p:nvSpPr>
        <p:spPr>
          <a:xfrm>
            <a:off x="4943372" y="2350963"/>
            <a:ext cx="2839746" cy="361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недель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762000" y="2889610"/>
            <a:ext cx="2619375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Запуск онлайн-записи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3333750" y="2827102"/>
            <a:ext cx="8096250" cy="323798"/>
          </a:xfrm>
          <a:prstGeom prst="roundRect">
            <a:avLst>
              <a:gd name="adj" fmla="val 50000"/>
            </a:avLst>
          </a:prstGeom>
          <a:solidFill>
            <a:srgbClr val="F3F3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896048" y="2827102"/>
            <a:ext cx="2419169" cy="32379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B9D2">
                  <a:alpha val="100000"/>
                </a:srgbClr>
              </a:gs>
              <a:gs pos="100000">
                <a:srgbClr val="7FD7E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8" name="Text 16"/>
          <p:cNvSpPr/>
          <p:nvPr/>
        </p:nvSpPr>
        <p:spPr>
          <a:xfrm>
            <a:off x="7048448" y="2827102"/>
            <a:ext cx="2342969" cy="361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недель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762000" y="3365729"/>
            <a:ext cx="2619375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Сбор отзывов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3333750" y="3303222"/>
            <a:ext cx="8096250" cy="323798"/>
          </a:xfrm>
          <a:prstGeom prst="roundRect">
            <a:avLst>
              <a:gd name="adj" fmla="val 50000"/>
            </a:avLst>
          </a:prstGeom>
          <a:solidFill>
            <a:srgbClr val="F3F3F7"/>
          </a:solidFill>
          <a:ln/>
        </p:spPr>
      </p:sp>
      <p:sp>
        <p:nvSpPr>
          <p:cNvPr id="21" name="Shape 19"/>
          <p:cNvSpPr/>
          <p:nvPr/>
        </p:nvSpPr>
        <p:spPr>
          <a:xfrm>
            <a:off x="8353399" y="3303222"/>
            <a:ext cx="3066895" cy="32379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D7E6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2" name="Text 20"/>
          <p:cNvSpPr/>
          <p:nvPr/>
        </p:nvSpPr>
        <p:spPr>
          <a:xfrm>
            <a:off x="8505799" y="3303222"/>
            <a:ext cx="3006502" cy="361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недель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762000" y="3841849"/>
            <a:ext cx="2619375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Масштабирование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3333750" y="3779341"/>
            <a:ext cx="8096250" cy="323798"/>
          </a:xfrm>
          <a:prstGeom prst="roundRect">
            <a:avLst>
              <a:gd name="adj" fmla="val 50000"/>
            </a:avLst>
          </a:prstGeom>
          <a:solidFill>
            <a:srgbClr val="F3F3F7"/>
          </a:solidFill>
          <a:ln/>
        </p:spPr>
      </p:sp>
      <p:sp>
        <p:nvSpPr>
          <p:cNvPr id="25" name="Shape 23"/>
          <p:cNvSpPr/>
          <p:nvPr/>
        </p:nvSpPr>
        <p:spPr>
          <a:xfrm>
            <a:off x="9324923" y="3779341"/>
            <a:ext cx="2095371" cy="32379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B4A70">
                  <a:alpha val="100000"/>
                </a:srgbClr>
              </a:gs>
              <a:gs pos="100000">
                <a:srgbClr val="373660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6" name="Text 24"/>
          <p:cNvSpPr/>
          <p:nvPr/>
        </p:nvSpPr>
        <p:spPr>
          <a:xfrm>
            <a:off x="9477323" y="3779341"/>
            <a:ext cx="2019171" cy="361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целый квартал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762000" y="5799516"/>
            <a:ext cx="114274" cy="114274"/>
          </a:xfrm>
          <a:prstGeom prst="roundRect">
            <a:avLst>
              <a:gd name="adj" fmla="val 33341"/>
            </a:avLst>
          </a:prstGeom>
          <a:solidFill>
            <a:srgbClr val="FFB401"/>
          </a:solidFill>
          <a:ln/>
        </p:spPr>
      </p:sp>
      <p:sp>
        <p:nvSpPr>
          <p:cNvPr id="28" name="Text 26"/>
          <p:cNvSpPr/>
          <p:nvPr/>
        </p:nvSpPr>
        <p:spPr>
          <a:xfrm>
            <a:off x="952371" y="5769639"/>
            <a:ext cx="704278" cy="212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Продукт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1847151" y="5799516"/>
            <a:ext cx="114274" cy="114274"/>
          </a:xfrm>
          <a:prstGeom prst="roundRect">
            <a:avLst>
              <a:gd name="adj" fmla="val 33341"/>
            </a:avLst>
          </a:prstGeom>
          <a:solidFill>
            <a:srgbClr val="00B9D2"/>
          </a:solidFill>
          <a:ln/>
        </p:spPr>
      </p:sp>
      <p:sp>
        <p:nvSpPr>
          <p:cNvPr id="30" name="Text 28"/>
          <p:cNvSpPr/>
          <p:nvPr/>
        </p:nvSpPr>
        <p:spPr>
          <a:xfrm>
            <a:off x="2037522" y="5769639"/>
            <a:ext cx="857330" cy="212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Операции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3085272" y="5799516"/>
            <a:ext cx="114274" cy="114274"/>
          </a:xfrm>
          <a:prstGeom prst="roundRect">
            <a:avLst>
              <a:gd name="adj" fmla="val 33341"/>
            </a:avLst>
          </a:prstGeom>
          <a:solidFill>
            <a:srgbClr val="373660"/>
          </a:solidFill>
          <a:ln/>
        </p:spPr>
      </p:sp>
      <p:sp>
        <p:nvSpPr>
          <p:cNvPr id="32" name="Text 30"/>
          <p:cNvSpPr/>
          <p:nvPr/>
        </p:nvSpPr>
        <p:spPr>
          <a:xfrm>
            <a:off x="3275643" y="5769639"/>
            <a:ext cx="774072" cy="212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Развитие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762000" y="630307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1251019" y="6303076"/>
            <a:ext cx="25518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11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502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6750" b="1" dirty="0">
                <a:solidFill>
                  <a:srgbClr val="FFB4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762000" y="1457213"/>
            <a:ext cx="4709160" cy="2352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225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Раньше администратор перезванивал по каждой заявке. Сейчас расписание заполняется само, а мы работаем с теми, кто уже пришёл.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762000" y="4037763"/>
            <a:ext cx="5029200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Имя Фамилия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62000" y="4282883"/>
            <a:ext cx="5029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врач, сеть клиник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2000" y="4934229"/>
            <a:ext cx="2209774" cy="1161765"/>
          </a:xfrm>
          <a:prstGeom prst="roundRect">
            <a:avLst>
              <a:gd name="adj" fmla="val 19677"/>
            </a:avLst>
          </a:prstGeom>
          <a:solidFill>
            <a:srgbClr val="FFB401"/>
          </a:solidFill>
          <a:ln/>
        </p:spPr>
      </p:sp>
      <p:sp>
        <p:nvSpPr>
          <p:cNvPr id="7" name="Text 5"/>
          <p:cNvSpPr/>
          <p:nvPr/>
        </p:nvSpPr>
        <p:spPr>
          <a:xfrm>
            <a:off x="1028597" y="5181805"/>
            <a:ext cx="1844239" cy="45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13"/>
              </a:lnSpc>
              <a:buNone/>
            </a:pPr>
            <a:r>
              <a:rPr lang="en-US" sz="3300" b="1" spc="-66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+41%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28597" y="5657924"/>
            <a:ext cx="1844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записей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24097" y="4934229"/>
            <a:ext cx="2209904" cy="1161765"/>
          </a:xfrm>
          <a:prstGeom prst="roundRect">
            <a:avLst>
              <a:gd name="adj" fmla="val 19677"/>
            </a:avLst>
          </a:prstGeom>
          <a:solidFill>
            <a:srgbClr val="00B9D2"/>
          </a:solidFill>
          <a:ln/>
        </p:spPr>
      </p:sp>
      <p:sp>
        <p:nvSpPr>
          <p:cNvPr id="10" name="Text 8"/>
          <p:cNvSpPr/>
          <p:nvPr/>
        </p:nvSpPr>
        <p:spPr>
          <a:xfrm>
            <a:off x="3390693" y="5181805"/>
            <a:ext cx="1844382" cy="45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13"/>
              </a:lnSpc>
              <a:buNone/>
            </a:pPr>
            <a:r>
              <a:rPr lang="en-US" sz="3300" b="1" spc="-66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−12%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3390693" y="5657924"/>
            <a:ext cx="184438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неявок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6303057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1240406" y="6303057"/>
            <a:ext cx="265794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1125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25015" r="25015" t="0" b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44"/>
            <a:ext cx="11734800" cy="519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Лиды по каналам за два месяца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396138"/>
            <a:ext cx="5257903" cy="503427"/>
          </a:xfrm>
          <a:prstGeom prst="roundRect">
            <a:avLst>
              <a:gd name="adj" fmla="val 18920"/>
            </a:avLst>
          </a:prstGeom>
          <a:solidFill>
            <a:srgbClr val="00B9D2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1548538"/>
            <a:ext cx="5034641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Канал</a:t>
            </a:r>
            <a:endParaRPr lang="en-US" sz="1275" dirty="0"/>
          </a:p>
        </p:txBody>
      </p:sp>
      <p:sp>
        <p:nvSpPr>
          <p:cNvPr id="5" name="Shape 3"/>
          <p:cNvSpPr/>
          <p:nvPr/>
        </p:nvSpPr>
        <p:spPr>
          <a:xfrm>
            <a:off x="6096000" y="1396138"/>
            <a:ext cx="2628952" cy="503427"/>
          </a:xfrm>
          <a:prstGeom prst="roundRect">
            <a:avLst>
              <a:gd name="adj" fmla="val 18920"/>
            </a:avLst>
          </a:prstGeom>
          <a:solidFill>
            <a:srgbClr val="00B9D2"/>
          </a:solidFill>
          <a:ln/>
        </p:spPr>
      </p:sp>
      <p:sp>
        <p:nvSpPr>
          <p:cNvPr id="6" name="Text 4"/>
          <p:cNvSpPr/>
          <p:nvPr/>
        </p:nvSpPr>
        <p:spPr>
          <a:xfrm>
            <a:off x="6247066" y="1548538"/>
            <a:ext cx="2326820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Август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8801048" y="1396138"/>
            <a:ext cx="2628952" cy="503427"/>
          </a:xfrm>
          <a:prstGeom prst="roundRect">
            <a:avLst>
              <a:gd name="adj" fmla="val 18920"/>
            </a:avLst>
          </a:prstGeom>
          <a:solidFill>
            <a:srgbClr val="00B9D2"/>
          </a:solidFill>
          <a:ln/>
        </p:spPr>
      </p:sp>
      <p:sp>
        <p:nvSpPr>
          <p:cNvPr id="8" name="Text 6"/>
          <p:cNvSpPr/>
          <p:nvPr/>
        </p:nvSpPr>
        <p:spPr>
          <a:xfrm>
            <a:off x="8952114" y="1548538"/>
            <a:ext cx="2326820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Сентябрь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762000" y="1975656"/>
            <a:ext cx="5257903" cy="465379"/>
          </a:xfrm>
          <a:prstGeom prst="roundRect">
            <a:avLst>
              <a:gd name="adj" fmla="val 20467"/>
            </a:avLst>
          </a:prstGeom>
          <a:solidFill>
            <a:srgbClr val="E6F8FB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09006"/>
            <a:ext cx="5034641" cy="2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Вебинары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6096000" y="1975656"/>
            <a:ext cx="2628952" cy="465379"/>
          </a:xfrm>
          <a:prstGeom prst="roundRect">
            <a:avLst>
              <a:gd name="adj" fmla="val 20467"/>
            </a:avLst>
          </a:prstGeom>
          <a:solidFill>
            <a:srgbClr val="E6F8FB"/>
          </a:solidFill>
          <a:ln/>
        </p:spPr>
      </p:sp>
      <p:sp>
        <p:nvSpPr>
          <p:cNvPr id="12" name="Text 10"/>
          <p:cNvSpPr/>
          <p:nvPr/>
        </p:nvSpPr>
        <p:spPr>
          <a:xfrm>
            <a:off x="6247066" y="2109006"/>
            <a:ext cx="2326820" cy="2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8801048" y="1975656"/>
            <a:ext cx="2628952" cy="465379"/>
          </a:xfrm>
          <a:prstGeom prst="roundRect">
            <a:avLst>
              <a:gd name="adj" fmla="val 20467"/>
            </a:avLst>
          </a:prstGeom>
          <a:solidFill>
            <a:srgbClr val="E6F8FB"/>
          </a:solidFill>
          <a:ln/>
        </p:spPr>
      </p:sp>
      <p:sp>
        <p:nvSpPr>
          <p:cNvPr id="14" name="Text 12"/>
          <p:cNvSpPr/>
          <p:nvPr/>
        </p:nvSpPr>
        <p:spPr>
          <a:xfrm>
            <a:off x="8952114" y="2109006"/>
            <a:ext cx="2326820" cy="2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762000" y="2517130"/>
            <a:ext cx="5257903" cy="465379"/>
          </a:xfrm>
          <a:prstGeom prst="roundRect">
            <a:avLst>
              <a:gd name="adj" fmla="val 20467"/>
            </a:avLst>
          </a:prstGeom>
          <a:solidFill>
            <a:srgbClr val="F2FBFD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2650480"/>
            <a:ext cx="5034641" cy="2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Рассылки в мессенджерах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6096000" y="2517130"/>
            <a:ext cx="2628952" cy="465379"/>
          </a:xfrm>
          <a:prstGeom prst="roundRect">
            <a:avLst>
              <a:gd name="adj" fmla="val 20467"/>
            </a:avLst>
          </a:prstGeom>
          <a:solidFill>
            <a:srgbClr val="F2FBFD"/>
          </a:solidFill>
          <a:ln/>
        </p:spPr>
      </p:sp>
      <p:sp>
        <p:nvSpPr>
          <p:cNvPr id="18" name="Text 16"/>
          <p:cNvSpPr/>
          <p:nvPr/>
        </p:nvSpPr>
        <p:spPr>
          <a:xfrm>
            <a:off x="6247066" y="2650480"/>
            <a:ext cx="2326820" cy="2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8801048" y="2517130"/>
            <a:ext cx="2628952" cy="465379"/>
          </a:xfrm>
          <a:prstGeom prst="roundRect">
            <a:avLst>
              <a:gd name="adj" fmla="val 20467"/>
            </a:avLst>
          </a:prstGeom>
          <a:solidFill>
            <a:srgbClr val="F2FBFD"/>
          </a:solidFill>
          <a:ln/>
        </p:spPr>
      </p:sp>
      <p:sp>
        <p:nvSpPr>
          <p:cNvPr id="20" name="Text 18"/>
          <p:cNvSpPr/>
          <p:nvPr/>
        </p:nvSpPr>
        <p:spPr>
          <a:xfrm>
            <a:off x="8952114" y="2650480"/>
            <a:ext cx="2326820" cy="2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762000" y="3058604"/>
            <a:ext cx="5257903" cy="465379"/>
          </a:xfrm>
          <a:prstGeom prst="roundRect">
            <a:avLst>
              <a:gd name="adj" fmla="val 20467"/>
            </a:avLst>
          </a:prstGeom>
          <a:solidFill>
            <a:srgbClr val="E6F8FB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3191954"/>
            <a:ext cx="5034641" cy="2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Лендинги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6096000" y="3058604"/>
            <a:ext cx="2628952" cy="465379"/>
          </a:xfrm>
          <a:prstGeom prst="roundRect">
            <a:avLst>
              <a:gd name="adj" fmla="val 20467"/>
            </a:avLst>
          </a:prstGeom>
          <a:solidFill>
            <a:srgbClr val="E6F8FB"/>
          </a:solidFill>
          <a:ln/>
        </p:spPr>
      </p:sp>
      <p:sp>
        <p:nvSpPr>
          <p:cNvPr id="24" name="Text 22"/>
          <p:cNvSpPr/>
          <p:nvPr/>
        </p:nvSpPr>
        <p:spPr>
          <a:xfrm>
            <a:off x="6247066" y="3191954"/>
            <a:ext cx="2326820" cy="2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8801048" y="3058604"/>
            <a:ext cx="2628952" cy="465379"/>
          </a:xfrm>
          <a:prstGeom prst="roundRect">
            <a:avLst>
              <a:gd name="adj" fmla="val 20467"/>
            </a:avLst>
          </a:prstGeom>
          <a:solidFill>
            <a:srgbClr val="E6F8FB"/>
          </a:solidFill>
          <a:ln/>
        </p:spPr>
      </p:sp>
      <p:sp>
        <p:nvSpPr>
          <p:cNvPr id="26" name="Text 24"/>
          <p:cNvSpPr/>
          <p:nvPr/>
        </p:nvSpPr>
        <p:spPr>
          <a:xfrm>
            <a:off x="8952114" y="3191954"/>
            <a:ext cx="2326820" cy="2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762000" y="3600078"/>
            <a:ext cx="5257903" cy="465379"/>
          </a:xfrm>
          <a:prstGeom prst="roundRect">
            <a:avLst>
              <a:gd name="adj" fmla="val 20467"/>
            </a:avLst>
          </a:prstGeom>
          <a:solidFill>
            <a:srgbClr val="F2FBFD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" y="3733428"/>
            <a:ext cx="5034641" cy="2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Платный трафик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6096000" y="3600078"/>
            <a:ext cx="2628952" cy="465379"/>
          </a:xfrm>
          <a:prstGeom prst="roundRect">
            <a:avLst>
              <a:gd name="adj" fmla="val 20467"/>
            </a:avLst>
          </a:prstGeom>
          <a:solidFill>
            <a:srgbClr val="F2FBFD"/>
          </a:solidFill>
          <a:ln/>
        </p:spPr>
      </p:sp>
      <p:sp>
        <p:nvSpPr>
          <p:cNvPr id="30" name="Text 28"/>
          <p:cNvSpPr/>
          <p:nvPr/>
        </p:nvSpPr>
        <p:spPr>
          <a:xfrm>
            <a:off x="6247066" y="3733428"/>
            <a:ext cx="2326820" cy="2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8801048" y="3600078"/>
            <a:ext cx="2628952" cy="465379"/>
          </a:xfrm>
          <a:prstGeom prst="roundRect">
            <a:avLst>
              <a:gd name="adj" fmla="val 20467"/>
            </a:avLst>
          </a:prstGeom>
          <a:solidFill>
            <a:srgbClr val="F2FBFD"/>
          </a:solidFill>
          <a:ln/>
        </p:spPr>
      </p:sp>
      <p:sp>
        <p:nvSpPr>
          <p:cNvPr id="32" name="Text 30"/>
          <p:cNvSpPr/>
          <p:nvPr/>
        </p:nvSpPr>
        <p:spPr>
          <a:xfrm>
            <a:off x="8952114" y="3733428"/>
            <a:ext cx="2326820" cy="2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762000" y="4141552"/>
            <a:ext cx="5257903" cy="465379"/>
          </a:xfrm>
          <a:prstGeom prst="roundRect">
            <a:avLst>
              <a:gd name="adj" fmla="val 20467"/>
            </a:avLst>
          </a:prstGeom>
          <a:solidFill>
            <a:srgbClr val="E6F8FB"/>
          </a:solidFill>
          <a:ln/>
        </p:spPr>
      </p:sp>
      <p:sp>
        <p:nvSpPr>
          <p:cNvPr id="34" name="Text 32"/>
          <p:cNvSpPr/>
          <p:nvPr/>
        </p:nvSpPr>
        <p:spPr>
          <a:xfrm>
            <a:off x="952500" y="4274902"/>
            <a:ext cx="5034641" cy="2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E-mail</a:t>
            </a:r>
            <a:endParaRPr lang="en-US" sz="1275" dirty="0"/>
          </a:p>
        </p:txBody>
      </p:sp>
      <p:sp>
        <p:nvSpPr>
          <p:cNvPr id="35" name="Shape 33"/>
          <p:cNvSpPr/>
          <p:nvPr/>
        </p:nvSpPr>
        <p:spPr>
          <a:xfrm>
            <a:off x="6096000" y="4141552"/>
            <a:ext cx="2628952" cy="465379"/>
          </a:xfrm>
          <a:prstGeom prst="roundRect">
            <a:avLst>
              <a:gd name="adj" fmla="val 20467"/>
            </a:avLst>
          </a:prstGeom>
          <a:solidFill>
            <a:srgbClr val="E6F8FB"/>
          </a:solidFill>
          <a:ln/>
        </p:spPr>
      </p:sp>
      <p:sp>
        <p:nvSpPr>
          <p:cNvPr id="36" name="Text 34"/>
          <p:cNvSpPr/>
          <p:nvPr/>
        </p:nvSpPr>
        <p:spPr>
          <a:xfrm>
            <a:off x="6247066" y="4274902"/>
            <a:ext cx="2326820" cy="2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1275" dirty="0"/>
          </a:p>
        </p:txBody>
      </p:sp>
      <p:sp>
        <p:nvSpPr>
          <p:cNvPr id="37" name="Shape 35"/>
          <p:cNvSpPr/>
          <p:nvPr/>
        </p:nvSpPr>
        <p:spPr>
          <a:xfrm>
            <a:off x="8801048" y="4141552"/>
            <a:ext cx="2628952" cy="465379"/>
          </a:xfrm>
          <a:prstGeom prst="roundRect">
            <a:avLst>
              <a:gd name="adj" fmla="val 20467"/>
            </a:avLst>
          </a:prstGeom>
          <a:solidFill>
            <a:srgbClr val="E6F8FB"/>
          </a:solidFill>
          <a:ln/>
        </p:spPr>
      </p:sp>
      <p:sp>
        <p:nvSpPr>
          <p:cNvPr id="38" name="Text 36"/>
          <p:cNvSpPr/>
          <p:nvPr/>
        </p:nvSpPr>
        <p:spPr>
          <a:xfrm>
            <a:off x="8952114" y="4274902"/>
            <a:ext cx="2326820" cy="2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275" dirty="0"/>
          </a:p>
        </p:txBody>
      </p:sp>
      <p:sp>
        <p:nvSpPr>
          <p:cNvPr id="39" name="Shape 37"/>
          <p:cNvSpPr/>
          <p:nvPr/>
        </p:nvSpPr>
        <p:spPr>
          <a:xfrm>
            <a:off x="762000" y="4683026"/>
            <a:ext cx="5257903" cy="465379"/>
          </a:xfrm>
          <a:prstGeom prst="roundRect">
            <a:avLst>
              <a:gd name="adj" fmla="val 20467"/>
            </a:avLst>
          </a:prstGeom>
          <a:solidFill>
            <a:srgbClr val="F2FBFD"/>
          </a:solidFill>
          <a:ln/>
        </p:spPr>
      </p:sp>
      <p:sp>
        <p:nvSpPr>
          <p:cNvPr id="40" name="Text 38"/>
          <p:cNvSpPr/>
          <p:nvPr/>
        </p:nvSpPr>
        <p:spPr>
          <a:xfrm>
            <a:off x="952500" y="4816376"/>
            <a:ext cx="5034641" cy="2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B2B-баннер</a:t>
            </a:r>
            <a:endParaRPr lang="en-US" sz="1275" dirty="0"/>
          </a:p>
        </p:txBody>
      </p:sp>
      <p:sp>
        <p:nvSpPr>
          <p:cNvPr id="41" name="Shape 39"/>
          <p:cNvSpPr/>
          <p:nvPr/>
        </p:nvSpPr>
        <p:spPr>
          <a:xfrm>
            <a:off x="6096000" y="4683026"/>
            <a:ext cx="2628952" cy="465379"/>
          </a:xfrm>
          <a:prstGeom prst="roundRect">
            <a:avLst>
              <a:gd name="adj" fmla="val 20467"/>
            </a:avLst>
          </a:prstGeom>
          <a:solidFill>
            <a:srgbClr val="F2FBFD"/>
          </a:solidFill>
          <a:ln/>
        </p:spPr>
      </p:sp>
      <p:sp>
        <p:nvSpPr>
          <p:cNvPr id="42" name="Text 40"/>
          <p:cNvSpPr/>
          <p:nvPr/>
        </p:nvSpPr>
        <p:spPr>
          <a:xfrm>
            <a:off x="6247066" y="4816376"/>
            <a:ext cx="2326820" cy="2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75" dirty="0"/>
          </a:p>
        </p:txBody>
      </p:sp>
      <p:sp>
        <p:nvSpPr>
          <p:cNvPr id="43" name="Shape 41"/>
          <p:cNvSpPr/>
          <p:nvPr/>
        </p:nvSpPr>
        <p:spPr>
          <a:xfrm>
            <a:off x="8801048" y="4683026"/>
            <a:ext cx="2628952" cy="465379"/>
          </a:xfrm>
          <a:prstGeom prst="roundRect">
            <a:avLst>
              <a:gd name="adj" fmla="val 20467"/>
            </a:avLst>
          </a:prstGeom>
          <a:solidFill>
            <a:srgbClr val="F2FBFD"/>
          </a:solidFill>
          <a:ln/>
        </p:spPr>
      </p:sp>
      <p:sp>
        <p:nvSpPr>
          <p:cNvPr id="44" name="Text 42"/>
          <p:cNvSpPr/>
          <p:nvPr/>
        </p:nvSpPr>
        <p:spPr>
          <a:xfrm>
            <a:off x="8952114" y="4816376"/>
            <a:ext cx="2326820" cy="2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275" dirty="0"/>
          </a:p>
        </p:txBody>
      </p:sp>
      <p:sp>
        <p:nvSpPr>
          <p:cNvPr id="45" name="Shape 43"/>
          <p:cNvSpPr/>
          <p:nvPr/>
        </p:nvSpPr>
        <p:spPr>
          <a:xfrm>
            <a:off x="762000" y="5224518"/>
            <a:ext cx="5257903" cy="503427"/>
          </a:xfrm>
          <a:prstGeom prst="roundRect">
            <a:avLst>
              <a:gd name="adj" fmla="val 18920"/>
            </a:avLst>
          </a:prstGeom>
          <a:solidFill>
            <a:srgbClr val="FFF8E6"/>
          </a:solidFill>
          <a:ln/>
        </p:spPr>
      </p:sp>
      <p:sp>
        <p:nvSpPr>
          <p:cNvPr id="46" name="Text 44"/>
          <p:cNvSpPr/>
          <p:nvPr/>
        </p:nvSpPr>
        <p:spPr>
          <a:xfrm>
            <a:off x="952500" y="5376918"/>
            <a:ext cx="5034641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Итого</a:t>
            </a:r>
            <a:endParaRPr lang="en-US" sz="1275" dirty="0"/>
          </a:p>
        </p:txBody>
      </p:sp>
      <p:sp>
        <p:nvSpPr>
          <p:cNvPr id="47" name="Shape 45"/>
          <p:cNvSpPr/>
          <p:nvPr/>
        </p:nvSpPr>
        <p:spPr>
          <a:xfrm>
            <a:off x="6096000" y="5224518"/>
            <a:ext cx="2628952" cy="503427"/>
          </a:xfrm>
          <a:prstGeom prst="roundRect">
            <a:avLst>
              <a:gd name="adj" fmla="val 18920"/>
            </a:avLst>
          </a:prstGeom>
          <a:solidFill>
            <a:srgbClr val="FFF8E6"/>
          </a:solidFill>
          <a:ln/>
        </p:spPr>
      </p:sp>
      <p:sp>
        <p:nvSpPr>
          <p:cNvPr id="48" name="Text 46"/>
          <p:cNvSpPr/>
          <p:nvPr/>
        </p:nvSpPr>
        <p:spPr>
          <a:xfrm>
            <a:off x="6247066" y="5376918"/>
            <a:ext cx="2326820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</a:t>
            </a:r>
            <a:endParaRPr lang="en-US" sz="1275" dirty="0"/>
          </a:p>
        </p:txBody>
      </p:sp>
      <p:sp>
        <p:nvSpPr>
          <p:cNvPr id="49" name="Shape 47"/>
          <p:cNvSpPr/>
          <p:nvPr/>
        </p:nvSpPr>
        <p:spPr>
          <a:xfrm>
            <a:off x="8801048" y="5224518"/>
            <a:ext cx="2628952" cy="503427"/>
          </a:xfrm>
          <a:prstGeom prst="roundRect">
            <a:avLst>
              <a:gd name="adj" fmla="val 18920"/>
            </a:avLst>
          </a:prstGeom>
          <a:solidFill>
            <a:srgbClr val="FFF8E6"/>
          </a:solidFill>
          <a:ln/>
        </p:spPr>
      </p:sp>
      <p:sp>
        <p:nvSpPr>
          <p:cNvPr id="50" name="Text 48"/>
          <p:cNvSpPr/>
          <p:nvPr/>
        </p:nvSpPr>
        <p:spPr>
          <a:xfrm>
            <a:off x="8952114" y="5376918"/>
            <a:ext cx="2326820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130</a:t>
            </a:r>
            <a:endParaRPr lang="en-US" sz="1275" dirty="0"/>
          </a:p>
        </p:txBody>
      </p:sp>
      <p:sp>
        <p:nvSpPr>
          <p:cNvPr id="51" name="Text 49"/>
          <p:cNvSpPr/>
          <p:nvPr/>
        </p:nvSpPr>
        <p:spPr>
          <a:xfrm>
            <a:off x="762000" y="6303057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11250889" y="6303057"/>
            <a:ext cx="255311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11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23013"/>
            <a:ext cx="3242480" cy="100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Возможности премиума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600088"/>
            <a:ext cx="4441420" cy="9525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609613"/>
            <a:ext cx="4574662" cy="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Аналитика</a:t>
            </a:r>
            <a:endParaRPr lang="en-US" sz="1275" dirty="0"/>
          </a:p>
        </p:txBody>
      </p:sp>
      <p:sp>
        <p:nvSpPr>
          <p:cNvPr id="5" name="Shape 3"/>
          <p:cNvSpPr/>
          <p:nvPr/>
        </p:nvSpPr>
        <p:spPr>
          <a:xfrm>
            <a:off x="762000" y="2324044"/>
            <a:ext cx="4441420" cy="9525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333569"/>
            <a:ext cx="4574662" cy="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Приоритетный показ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762000" y="3048000"/>
            <a:ext cx="4441420" cy="9525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3057525"/>
            <a:ext cx="4574662" cy="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Онлайн-запись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762000" y="3771956"/>
            <a:ext cx="4441420" cy="9525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781481"/>
            <a:ext cx="4574662" cy="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Размещение акций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762000" y="4495912"/>
            <a:ext cx="4441420" cy="9525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4505437"/>
            <a:ext cx="4574662" cy="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Упаковка профиля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762000" y="5219849"/>
            <a:ext cx="4441420" cy="9525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5229374"/>
            <a:ext cx="4574662" cy="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Сбор отзывов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5355742" y="609544"/>
            <a:ext cx="2960903" cy="5334130"/>
          </a:xfrm>
          <a:prstGeom prst="roundRect">
            <a:avLst>
              <a:gd name="adj" fmla="val 7721"/>
            </a:avLst>
          </a:prstGeom>
          <a:gradFill rotWithShape="1">
            <a:gsLst>
              <a:gs pos="0">
                <a:srgbClr val="EDEEF6">
                  <a:alpha val="100000"/>
                </a:srgbClr>
              </a:gs>
              <a:gs pos="42000">
                <a:srgbClr val="F7F8FB">
                  <a:alpha val="100000"/>
                </a:srgbClr>
              </a:gs>
              <a:gs pos="100000">
                <a:srgbClr val="FBFBFD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6" name="Text 14"/>
          <p:cNvSpPr/>
          <p:nvPr/>
        </p:nvSpPr>
        <p:spPr>
          <a:xfrm>
            <a:off x="5311328" y="609544"/>
            <a:ext cx="3049730" cy="1028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Бесплатное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5355742" y="1600088"/>
            <a:ext cx="2960903" cy="9525"/>
          </a:xfrm>
          <a:prstGeom prst="rect">
            <a:avLst/>
          </a:prstGeom>
          <a:solidFill>
            <a:srgbClr val="373660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311328" y="1609613"/>
            <a:ext cx="3049730" cy="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55742" y="2324044"/>
            <a:ext cx="2960903" cy="9525"/>
          </a:xfrm>
          <a:prstGeom prst="rect">
            <a:avLst/>
          </a:prstGeom>
          <a:solidFill>
            <a:srgbClr val="373660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311328" y="2333569"/>
            <a:ext cx="3049730" cy="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55742" y="3048000"/>
            <a:ext cx="2960903" cy="9525"/>
          </a:xfrm>
          <a:prstGeom prst="rect">
            <a:avLst/>
          </a:prstGeom>
          <a:solidFill>
            <a:srgbClr val="373660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311328" y="3057525"/>
            <a:ext cx="3049730" cy="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55742" y="3771956"/>
            <a:ext cx="2960903" cy="9525"/>
          </a:xfrm>
          <a:prstGeom prst="rect">
            <a:avLst/>
          </a:prstGeom>
          <a:solidFill>
            <a:srgbClr val="373660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311328" y="3781481"/>
            <a:ext cx="3049730" cy="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55742" y="4495912"/>
            <a:ext cx="2960903" cy="9525"/>
          </a:xfrm>
          <a:prstGeom prst="rect">
            <a:avLst/>
          </a:prstGeom>
          <a:solidFill>
            <a:srgbClr val="373660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311328" y="4505437"/>
            <a:ext cx="3049730" cy="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55742" y="5219849"/>
            <a:ext cx="2960903" cy="9525"/>
          </a:xfrm>
          <a:prstGeom prst="rect">
            <a:avLst/>
          </a:prstGeom>
          <a:solidFill>
            <a:srgbClr val="373660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311328" y="5229374"/>
            <a:ext cx="3049730" cy="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0A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468967" y="609544"/>
            <a:ext cx="2961033" cy="5334130"/>
          </a:xfrm>
          <a:prstGeom prst="roundRect">
            <a:avLst>
              <a:gd name="adj" fmla="val 7720"/>
            </a:avLst>
          </a:prstGeom>
          <a:gradFill rotWithShape="1">
            <a:gsLst>
              <a:gs pos="0">
                <a:srgbClr val="AFE9F3">
                  <a:alpha val="100000"/>
                </a:srgbClr>
              </a:gs>
              <a:gs pos="40000">
                <a:srgbClr val="DCF5F9">
                  <a:alpha val="100000"/>
                </a:srgbClr>
              </a:gs>
              <a:gs pos="100000">
                <a:srgbClr val="F3FCFD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0" name="Text 28"/>
          <p:cNvSpPr/>
          <p:nvPr/>
        </p:nvSpPr>
        <p:spPr>
          <a:xfrm>
            <a:off x="8424552" y="609544"/>
            <a:ext cx="3049864" cy="1028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Премиум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8468967" y="1600088"/>
            <a:ext cx="2961033" cy="9525"/>
          </a:xfrm>
          <a:prstGeom prst="rect">
            <a:avLst/>
          </a:prstGeom>
          <a:solidFill>
            <a:srgbClr val="373660">
              <a:alpha val="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615052" y="1609613"/>
            <a:ext cx="2668864" cy="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Статистика клиники и популярных услуг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8468967" y="2324044"/>
            <a:ext cx="2961033" cy="9525"/>
          </a:xfrm>
          <a:prstGeom prst="rect">
            <a:avLst/>
          </a:prstGeom>
          <a:solidFill>
            <a:srgbClr val="373660">
              <a:alpha val="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615052" y="2333569"/>
            <a:ext cx="2668864" cy="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Выше в подборках и поиске</a:t>
            </a:r>
            <a:endParaRPr lang="en-US" sz="1125" dirty="0"/>
          </a:p>
        </p:txBody>
      </p:sp>
      <p:sp>
        <p:nvSpPr>
          <p:cNvPr id="35" name="Shape 33"/>
          <p:cNvSpPr/>
          <p:nvPr/>
        </p:nvSpPr>
        <p:spPr>
          <a:xfrm>
            <a:off x="8468967" y="3048000"/>
            <a:ext cx="2961033" cy="9525"/>
          </a:xfrm>
          <a:prstGeom prst="rect">
            <a:avLst/>
          </a:prstGeom>
          <a:solidFill>
            <a:srgbClr val="373660">
              <a:alpha val="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615052" y="3057525"/>
            <a:ext cx="2668864" cy="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 телефону, по кнопке, мгновенно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8468967" y="3771956"/>
            <a:ext cx="2961033" cy="9525"/>
          </a:xfrm>
          <a:prstGeom prst="rect">
            <a:avLst/>
          </a:prstGeom>
          <a:solidFill>
            <a:srgbClr val="373660">
              <a:alpha val="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615052" y="3781481"/>
            <a:ext cx="2668864" cy="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 5 активных предложений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8468967" y="4495912"/>
            <a:ext cx="2961033" cy="9525"/>
          </a:xfrm>
          <a:prstGeom prst="rect">
            <a:avLst/>
          </a:prstGeom>
          <a:solidFill>
            <a:srgbClr val="373660">
              <a:alpha val="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615052" y="4505437"/>
            <a:ext cx="2668864" cy="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Фото работ в карточках клиники и врачей</a:t>
            </a:r>
            <a:endParaRPr lang="en-US" sz="1125" dirty="0"/>
          </a:p>
        </p:txBody>
      </p:sp>
      <p:sp>
        <p:nvSpPr>
          <p:cNvPr id="41" name="Shape 39"/>
          <p:cNvSpPr/>
          <p:nvPr/>
        </p:nvSpPr>
        <p:spPr>
          <a:xfrm>
            <a:off x="8468967" y="5219849"/>
            <a:ext cx="2961033" cy="9525"/>
          </a:xfrm>
          <a:prstGeom prst="rect">
            <a:avLst/>
          </a:prstGeom>
          <a:solidFill>
            <a:srgbClr val="373660">
              <a:alpha val="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615052" y="5229374"/>
            <a:ext cx="2668864" cy="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СМС, пуши, e-mail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762000" y="6303057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11244936" y="6303057"/>
            <a:ext cx="261265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</a:t>
            </a:r>
            <a:endParaRPr lang="en-US" sz="11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44"/>
            <a:ext cx="4855122" cy="100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 сервисом растёт выручка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009033" y="666694"/>
            <a:ext cx="5583463" cy="86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480"/>
              </a:lnSpc>
              <a:buNone/>
            </a:pPr>
            <a:r>
              <a:rPr lang="en-US" sz="1350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Клиника вносит депозит 10 тыс. ₽ и получает выручку от записей и услуг в диапазоне 50–70 тыс. ₽. ROI в таком случае составляет 500–700%.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62000" y="1877950"/>
            <a:ext cx="5219726" cy="4065726"/>
          </a:xfrm>
          <a:prstGeom prst="roundRect">
            <a:avLst>
              <a:gd name="adj" fmla="val 5623"/>
            </a:avLst>
          </a:prstGeom>
          <a:gradFill rotWithShape="1">
            <a:gsLst>
              <a:gs pos="0">
                <a:srgbClr val="7FD7E6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1028597" y="2144557"/>
            <a:ext cx="1928165" cy="3644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19097" y="2239807"/>
            <a:ext cx="1623365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Записей становится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028597" y="4648498"/>
            <a:ext cx="5155186" cy="1066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491"/>
              </a:lnSpc>
              <a:buNone/>
            </a:pPr>
            <a:r>
              <a:rPr lang="en-US" sz="9000" b="1" spc="-18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x2</a:t>
            </a:r>
            <a:endParaRPr lang="en-US" sz="9000" dirty="0"/>
          </a:p>
        </p:txBody>
      </p:sp>
      <p:sp>
        <p:nvSpPr>
          <p:cNvPr id="8" name="Shape 6"/>
          <p:cNvSpPr/>
          <p:nvPr/>
        </p:nvSpPr>
        <p:spPr>
          <a:xfrm>
            <a:off x="6210274" y="1877950"/>
            <a:ext cx="5219726" cy="4065726"/>
          </a:xfrm>
          <a:prstGeom prst="roundRect">
            <a:avLst>
              <a:gd name="adj" fmla="val 5623"/>
            </a:avLst>
          </a:prstGeom>
          <a:gradFill rotWithShape="1">
            <a:gsLst>
              <a:gs pos="0">
                <a:srgbClr val="FFC93F">
                  <a:alpha val="100000"/>
                </a:srgbClr>
              </a:gs>
              <a:gs pos="100000">
                <a:srgbClr val="FFB401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9" name="Shape 7"/>
          <p:cNvSpPr/>
          <p:nvPr/>
        </p:nvSpPr>
        <p:spPr>
          <a:xfrm>
            <a:off x="6476871" y="2144557"/>
            <a:ext cx="1537718" cy="3644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667371" y="2239807"/>
            <a:ext cx="1232918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ROI составляет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476871" y="4648498"/>
            <a:ext cx="5155186" cy="1066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491"/>
              </a:lnSpc>
              <a:buNone/>
            </a:pPr>
            <a:r>
              <a:rPr lang="en-US" sz="9000" b="1" spc="-18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700%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762000" y="630307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1247783" y="6303076"/>
            <a:ext cx="258417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11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63"/>
            <a:ext cx="11734800" cy="519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Записи после подключения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396138"/>
            <a:ext cx="5219726" cy="3278878"/>
          </a:xfrm>
          <a:prstGeom prst="roundRect">
            <a:avLst>
              <a:gd name="adj" fmla="val 6972"/>
            </a:avLst>
          </a:prstGeom>
          <a:ln w="9525">
            <a:solidFill>
              <a:srgbClr val="E4E4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7855" y="1706221"/>
            <a:ext cx="1963108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Количество записей</a:t>
            </a:r>
            <a:endParaRPr lang="en-US" sz="1275" dirty="0"/>
          </a:p>
        </p:txBody>
      </p:sp>
      <p:sp>
        <p:nvSpPr>
          <p:cNvPr id="5" name="Shape 3"/>
          <p:cNvSpPr/>
          <p:nvPr/>
        </p:nvSpPr>
        <p:spPr>
          <a:xfrm>
            <a:off x="4062231" y="1651992"/>
            <a:ext cx="1663640" cy="307233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/>
        </p:spPr>
      </p:sp>
      <p:sp>
        <p:nvSpPr>
          <p:cNvPr id="6" name="Text 4"/>
          <p:cNvSpPr/>
          <p:nvPr/>
        </p:nvSpPr>
        <p:spPr>
          <a:xfrm>
            <a:off x="4195581" y="1718667"/>
            <a:ext cx="1473140" cy="211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3D3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работе 3 месяца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1017855" y="2149729"/>
            <a:ext cx="1480516" cy="2000250"/>
          </a:xfrm>
          <a:prstGeom prst="roundRect">
            <a:avLst>
              <a:gd name="adj" fmla="val 7720"/>
            </a:avLst>
          </a:prstGeom>
          <a:solidFill>
            <a:srgbClr val="F5F5F8"/>
          </a:solidFill>
          <a:ln/>
        </p:spPr>
      </p:sp>
      <p:sp>
        <p:nvSpPr>
          <p:cNvPr id="8" name="Shape 6"/>
          <p:cNvSpPr/>
          <p:nvPr/>
        </p:nvSpPr>
        <p:spPr>
          <a:xfrm>
            <a:off x="1017855" y="2989901"/>
            <a:ext cx="1480516" cy="1160083"/>
          </a:xfrm>
          <a:prstGeom prst="roundRect">
            <a:avLst>
              <a:gd name="adj" fmla="val 9853"/>
            </a:avLst>
          </a:prstGeom>
          <a:gradFill rotWithShape="1">
            <a:gsLst>
              <a:gs pos="0">
                <a:srgbClr val="FFC93F">
                  <a:alpha val="100000"/>
                </a:srgbClr>
              </a:gs>
              <a:gs pos="100000">
                <a:srgbClr val="FFB401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979755" y="2989901"/>
            <a:ext cx="1556716" cy="1083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92293" y="4245229"/>
            <a:ext cx="607711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январь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2631670" y="2149729"/>
            <a:ext cx="1480516" cy="2000250"/>
          </a:xfrm>
          <a:prstGeom prst="roundRect">
            <a:avLst>
              <a:gd name="adj" fmla="val 7720"/>
            </a:avLst>
          </a:prstGeom>
          <a:solidFill>
            <a:srgbClr val="F5F5F8"/>
          </a:solidFill>
          <a:ln/>
        </p:spPr>
      </p:sp>
      <p:sp>
        <p:nvSpPr>
          <p:cNvPr id="12" name="Shape 10"/>
          <p:cNvSpPr/>
          <p:nvPr/>
        </p:nvSpPr>
        <p:spPr>
          <a:xfrm>
            <a:off x="2631670" y="3029899"/>
            <a:ext cx="1480516" cy="1120093"/>
          </a:xfrm>
          <a:prstGeom prst="roundRect">
            <a:avLst>
              <a:gd name="adj" fmla="val 10205"/>
            </a:avLst>
          </a:prstGeom>
          <a:gradFill rotWithShape="1">
            <a:gsLst>
              <a:gs pos="0">
                <a:srgbClr val="FFC93F">
                  <a:alpha val="100000"/>
                </a:srgbClr>
              </a:gs>
              <a:gs pos="100000">
                <a:srgbClr val="FFB401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3" name="Text 11"/>
          <p:cNvSpPr/>
          <p:nvPr/>
        </p:nvSpPr>
        <p:spPr>
          <a:xfrm>
            <a:off x="2593570" y="3029899"/>
            <a:ext cx="1556716" cy="1043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52530" y="4245229"/>
            <a:ext cx="714996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февраль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4245484" y="2149729"/>
            <a:ext cx="1480516" cy="2000250"/>
          </a:xfrm>
          <a:prstGeom prst="roundRect">
            <a:avLst>
              <a:gd name="adj" fmla="val 7720"/>
            </a:avLst>
          </a:prstGeom>
          <a:solidFill>
            <a:srgbClr val="F5F5F8"/>
          </a:solidFill>
          <a:ln/>
        </p:spPr>
      </p:sp>
      <p:sp>
        <p:nvSpPr>
          <p:cNvPr id="16" name="Shape 14"/>
          <p:cNvSpPr/>
          <p:nvPr/>
        </p:nvSpPr>
        <p:spPr>
          <a:xfrm>
            <a:off x="4245484" y="3029899"/>
            <a:ext cx="1480516" cy="1120093"/>
          </a:xfrm>
          <a:prstGeom prst="roundRect">
            <a:avLst>
              <a:gd name="adj" fmla="val 10205"/>
            </a:avLst>
          </a:prstGeom>
          <a:gradFill rotWithShape="1">
            <a:gsLst>
              <a:gs pos="0">
                <a:srgbClr val="FFC93F">
                  <a:alpha val="100000"/>
                </a:srgbClr>
              </a:gs>
              <a:gs pos="100000">
                <a:srgbClr val="FFB401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7" name="Text 15"/>
          <p:cNvSpPr/>
          <p:nvPr/>
        </p:nvSpPr>
        <p:spPr>
          <a:xfrm>
            <a:off x="4207384" y="3029899"/>
            <a:ext cx="1556716" cy="1043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6243" y="4245229"/>
            <a:ext cx="43507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март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6210274" y="1396138"/>
            <a:ext cx="5219726" cy="3278878"/>
          </a:xfrm>
          <a:prstGeom prst="roundRect">
            <a:avLst>
              <a:gd name="adj" fmla="val 6972"/>
            </a:avLst>
          </a:prstGeom>
          <a:ln w="9525">
            <a:solidFill>
              <a:srgbClr val="E4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6129" y="1706221"/>
            <a:ext cx="1963108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Количество записей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9496658" y="1651992"/>
            <a:ext cx="1677487" cy="307233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/>
        </p:spPr>
      </p:sp>
      <p:sp>
        <p:nvSpPr>
          <p:cNvPr id="22" name="Text 20"/>
          <p:cNvSpPr/>
          <p:nvPr/>
        </p:nvSpPr>
        <p:spPr>
          <a:xfrm>
            <a:off x="9630008" y="1718667"/>
            <a:ext cx="1486987" cy="211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3D3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работе 4 месяца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6466129" y="2149729"/>
            <a:ext cx="1076998" cy="2000250"/>
          </a:xfrm>
          <a:prstGeom prst="roundRect">
            <a:avLst>
              <a:gd name="adj" fmla="val 10613"/>
            </a:avLst>
          </a:prstGeom>
          <a:solidFill>
            <a:srgbClr val="F5F5F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66129" y="3309938"/>
            <a:ext cx="1076998" cy="840038"/>
          </a:xfrm>
          <a:prstGeom prst="roundRect">
            <a:avLst>
              <a:gd name="adj" fmla="val 13607"/>
            </a:avLst>
          </a:prstGeom>
          <a:gradFill rotWithShape="1">
            <a:gsLst>
              <a:gs pos="0">
                <a:srgbClr val="7FD7E6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5" name="Text 23"/>
          <p:cNvSpPr/>
          <p:nvPr/>
        </p:nvSpPr>
        <p:spPr>
          <a:xfrm>
            <a:off x="6428029" y="3309938"/>
            <a:ext cx="1153198" cy="76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95195" y="4245229"/>
            <a:ext cx="694937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декабрь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7676426" y="2149729"/>
            <a:ext cx="1076998" cy="2000250"/>
          </a:xfrm>
          <a:prstGeom prst="roundRect">
            <a:avLst>
              <a:gd name="adj" fmla="val 10613"/>
            </a:avLst>
          </a:prstGeom>
          <a:solidFill>
            <a:srgbClr val="F5F5F8"/>
          </a:solidFill>
          <a:ln/>
        </p:spPr>
      </p:sp>
      <p:sp>
        <p:nvSpPr>
          <p:cNvPr id="28" name="Shape 26"/>
          <p:cNvSpPr/>
          <p:nvPr/>
        </p:nvSpPr>
        <p:spPr>
          <a:xfrm>
            <a:off x="7676426" y="3269959"/>
            <a:ext cx="1076998" cy="880027"/>
          </a:xfrm>
          <a:prstGeom prst="roundRect">
            <a:avLst>
              <a:gd name="adj" fmla="val 12988"/>
            </a:avLst>
          </a:prstGeom>
          <a:gradFill rotWithShape="1">
            <a:gsLst>
              <a:gs pos="0">
                <a:srgbClr val="7FD7E6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9" name="Text 27"/>
          <p:cNvSpPr/>
          <p:nvPr/>
        </p:nvSpPr>
        <p:spPr>
          <a:xfrm>
            <a:off x="7638326" y="3269959"/>
            <a:ext cx="1153198" cy="803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949104" y="4245229"/>
            <a:ext cx="607711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январь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8886722" y="2149729"/>
            <a:ext cx="1076998" cy="2000250"/>
          </a:xfrm>
          <a:prstGeom prst="roundRect">
            <a:avLst>
              <a:gd name="adj" fmla="val 10613"/>
            </a:avLst>
          </a:prstGeom>
          <a:solidFill>
            <a:srgbClr val="F5F5F8"/>
          </a:solidFill>
          <a:ln/>
        </p:spPr>
      </p:sp>
      <p:sp>
        <p:nvSpPr>
          <p:cNvPr id="32" name="Shape 30"/>
          <p:cNvSpPr/>
          <p:nvPr/>
        </p:nvSpPr>
        <p:spPr>
          <a:xfrm>
            <a:off x="8886722" y="2629867"/>
            <a:ext cx="1076998" cy="1520118"/>
          </a:xfrm>
          <a:prstGeom prst="roundRect">
            <a:avLst>
              <a:gd name="adj" fmla="val 10613"/>
            </a:avLst>
          </a:prstGeom>
          <a:gradFill rotWithShape="1">
            <a:gsLst>
              <a:gs pos="0">
                <a:srgbClr val="7FD7E6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3" name="Text 31"/>
          <p:cNvSpPr/>
          <p:nvPr/>
        </p:nvSpPr>
        <p:spPr>
          <a:xfrm>
            <a:off x="8848622" y="2629867"/>
            <a:ext cx="1153198" cy="1443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05823" y="4245229"/>
            <a:ext cx="714996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февраль</a:t>
            </a:r>
            <a:endParaRPr lang="en-US" sz="1125" dirty="0"/>
          </a:p>
        </p:txBody>
      </p:sp>
      <p:sp>
        <p:nvSpPr>
          <p:cNvPr id="35" name="Shape 33"/>
          <p:cNvSpPr/>
          <p:nvPr/>
        </p:nvSpPr>
        <p:spPr>
          <a:xfrm>
            <a:off x="10097018" y="2149729"/>
            <a:ext cx="1076998" cy="2000250"/>
          </a:xfrm>
          <a:prstGeom prst="roundRect">
            <a:avLst>
              <a:gd name="adj" fmla="val 10613"/>
            </a:avLst>
          </a:prstGeom>
          <a:solidFill>
            <a:srgbClr val="F5F5F8"/>
          </a:solidFill>
          <a:ln/>
        </p:spPr>
      </p:sp>
      <p:sp>
        <p:nvSpPr>
          <p:cNvPr id="36" name="Shape 34"/>
          <p:cNvSpPr/>
          <p:nvPr/>
        </p:nvSpPr>
        <p:spPr>
          <a:xfrm>
            <a:off x="10097018" y="2189857"/>
            <a:ext cx="1076998" cy="1960131"/>
          </a:xfrm>
          <a:prstGeom prst="roundRect">
            <a:avLst>
              <a:gd name="adj" fmla="val 10613"/>
            </a:avLst>
          </a:prstGeom>
          <a:gradFill rotWithShape="1">
            <a:gsLst>
              <a:gs pos="0">
                <a:srgbClr val="7FD7E6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7" name="Text 35"/>
          <p:cNvSpPr/>
          <p:nvPr/>
        </p:nvSpPr>
        <p:spPr>
          <a:xfrm>
            <a:off x="10058918" y="2189857"/>
            <a:ext cx="1153198" cy="18839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456017" y="4245229"/>
            <a:ext cx="43507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март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762000" y="630307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11240535" y="6303076"/>
            <a:ext cx="265665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11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44"/>
            <a:ext cx="4045068" cy="100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Возможности премиума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62000" y="1763669"/>
            <a:ext cx="4045068" cy="814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333"/>
              </a:lnSpc>
              <a:buNone/>
            </a:pPr>
            <a:r>
              <a:rPr lang="en-US" sz="127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Конверсия между шагами держится около 50%: половина лидов доходит до заявки, половина заявок — до продажи.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5336848" y="609544"/>
            <a:ext cx="6093153" cy="1009443"/>
          </a:xfrm>
          <a:prstGeom prst="roundRect">
            <a:avLst>
              <a:gd name="adj" fmla="val 22646"/>
            </a:avLst>
          </a:prstGeom>
          <a:gradFill rotWithShape="1">
            <a:gsLst>
              <a:gs pos="0">
                <a:srgbClr val="FFE7AD">
                  <a:alpha val="100000"/>
                </a:srgbClr>
              </a:gs>
              <a:gs pos="100000">
                <a:srgbClr val="FFC93F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5641621" y="838088"/>
            <a:ext cx="1009547" cy="590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41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981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10076725" y="927906"/>
            <a:ext cx="1048501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лиды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0076725" y="1126685"/>
            <a:ext cx="1048501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CPL ≈ 2 700 ₽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5146348" y="2066497"/>
            <a:ext cx="1502388" cy="381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8273" y="2171272"/>
            <a:ext cx="1254738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Конверсия 50%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6839235" y="1752284"/>
            <a:ext cx="4590765" cy="1009443"/>
          </a:xfrm>
          <a:prstGeom prst="roundRect">
            <a:avLst>
              <a:gd name="adj" fmla="val 22646"/>
            </a:avLst>
          </a:prstGeom>
          <a:gradFill rotWithShape="1">
            <a:gsLst>
              <a:gs pos="0">
                <a:srgbClr val="FFC93F">
                  <a:alpha val="100000"/>
                </a:srgbClr>
              </a:gs>
              <a:gs pos="100000">
                <a:srgbClr val="FFB401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7144009" y="1980828"/>
            <a:ext cx="1182058" cy="590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41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490</a:t>
            </a:r>
            <a:endParaRPr lang="en-US" sz="4350" dirty="0"/>
          </a:p>
        </p:txBody>
      </p:sp>
      <p:sp>
        <p:nvSpPr>
          <p:cNvPr id="12" name="Text 10"/>
          <p:cNvSpPr/>
          <p:nvPr/>
        </p:nvSpPr>
        <p:spPr>
          <a:xfrm>
            <a:off x="9262480" y="2070646"/>
            <a:ext cx="1862746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заявки на премиум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9262480" y="2269424"/>
            <a:ext cx="1862746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CPL ≈ 5 500 ₽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5146348" y="3209255"/>
            <a:ext cx="1502388" cy="381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8273" y="3314030"/>
            <a:ext cx="1254738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Конверсия 50%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6839235" y="2895023"/>
            <a:ext cx="4590765" cy="1009443"/>
          </a:xfrm>
          <a:prstGeom prst="roundRect">
            <a:avLst>
              <a:gd name="adj" fmla="val 22646"/>
            </a:avLst>
          </a:prstGeom>
          <a:gradFill rotWithShape="1">
            <a:gsLst>
              <a:gs pos="0">
                <a:srgbClr val="FFB401">
                  <a:alpha val="100000"/>
                </a:srgbClr>
              </a:gs>
              <a:gs pos="100000">
                <a:srgbClr val="FFA200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17" name="Text 15"/>
          <p:cNvSpPr/>
          <p:nvPr/>
        </p:nvSpPr>
        <p:spPr>
          <a:xfrm>
            <a:off x="7144009" y="3123567"/>
            <a:ext cx="1105832" cy="590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41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245</a:t>
            </a:r>
            <a:endParaRPr lang="en-US" sz="4350" dirty="0"/>
          </a:p>
        </p:txBody>
      </p:sp>
      <p:sp>
        <p:nvSpPr>
          <p:cNvPr id="18" name="Text 16"/>
          <p:cNvSpPr/>
          <p:nvPr/>
        </p:nvSpPr>
        <p:spPr>
          <a:xfrm>
            <a:off x="9963358" y="3213385"/>
            <a:ext cx="1161869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продажи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9963358" y="3412164"/>
            <a:ext cx="1161869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CAC ≈ 35 тыс. ₽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762000" y="6303057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1244677" y="6303057"/>
            <a:ext cx="261523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11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544"/>
            <a:ext cx="11734800" cy="519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55"/>
              </a:lnSpc>
              <a:buNone/>
            </a:pPr>
            <a:r>
              <a:rPr lang="en-US" sz="33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Лиды на премиум и структура трафика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396138"/>
            <a:ext cx="6572897" cy="4547540"/>
          </a:xfrm>
          <a:prstGeom prst="roundRect">
            <a:avLst>
              <a:gd name="adj" fmla="val 5027"/>
            </a:avLst>
          </a:prstGeom>
          <a:ln w="9525">
            <a:solidFill>
              <a:srgbClr val="E4E4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7855" y="1684734"/>
            <a:ext cx="133298" cy="133298"/>
          </a:xfrm>
          <a:prstGeom prst="roundRect">
            <a:avLst>
              <a:gd name="adj" fmla="val 28583"/>
            </a:avLst>
          </a:prstGeom>
          <a:solidFill>
            <a:srgbClr val="00B9D2"/>
          </a:solidFill>
          <a:ln/>
        </p:spPr>
      </p:sp>
      <p:sp>
        <p:nvSpPr>
          <p:cNvPr id="5" name="Text 3"/>
          <p:cNvSpPr/>
          <p:nvPr/>
        </p:nvSpPr>
        <p:spPr>
          <a:xfrm>
            <a:off x="1246403" y="1652681"/>
            <a:ext cx="1656394" cy="235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Лиды на премиум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1017855" y="5678304"/>
            <a:ext cx="6061188" cy="9525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7" name="Shape 5"/>
          <p:cNvSpPr/>
          <p:nvPr/>
        </p:nvSpPr>
        <p:spPr>
          <a:xfrm>
            <a:off x="1040503" y="5210528"/>
            <a:ext cx="419048" cy="180923"/>
          </a:xfrm>
          <a:custGeom>
            <a:avLst/>
            <a:gdLst/>
            <a:ahLst/>
            <a:cxnLst/>
            <a:rect l="l" t="t" r="r" b="b"/>
            <a:pathLst>
              <a:path w="419048" h="180923">
                <a:moveTo>
                  <a:pt x="90462" y="0"/>
                </a:moveTo>
                <a:lnTo>
                  <a:pt x="328587" y="0"/>
                </a:lnTo>
                <a:arcTo hR="90462" wR="90462" stAng="16200000" swAng="5400000"/>
                <a:lnTo>
                  <a:pt x="419048" y="142823"/>
                </a:lnTo>
                <a:arcTo hR="38100" wR="38100" stAng="0" swAng="5400000"/>
                <a:lnTo>
                  <a:pt x="38100" y="180923"/>
                </a:lnTo>
                <a:arcTo hR="38100" wR="38100" stAng="5400000" swAng="5400000"/>
                <a:lnTo>
                  <a:pt x="0" y="90462"/>
                </a:lnTo>
                <a:arcTo hR="90462" wR="90462" stAng="10800000" swAng="5400000"/>
                <a:close/>
              </a:path>
            </a:pathLst>
          </a:custGeom>
          <a:gradFill rotWithShape="1">
            <a:gsLst>
              <a:gs pos="0">
                <a:srgbClr val="7FD7E6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1106117" y="5467555"/>
            <a:ext cx="364021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Янв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1600226" y="4559052"/>
            <a:ext cx="419048" cy="832402"/>
          </a:xfrm>
          <a:custGeom>
            <a:avLst/>
            <a:gdLst/>
            <a:ahLst/>
            <a:cxnLst/>
            <a:rect l="l" t="t" r="r" b="b"/>
            <a:pathLst>
              <a:path w="419048" h="832402">
                <a:moveTo>
                  <a:pt x="95250" y="0"/>
                </a:moveTo>
                <a:lnTo>
                  <a:pt x="323798" y="0"/>
                </a:lnTo>
                <a:arcTo hR="95250" wR="95250" stAng="16200000" swAng="5400000"/>
                <a:lnTo>
                  <a:pt x="419048" y="794302"/>
                </a:lnTo>
                <a:arcTo hR="38100" wR="38100" stAng="0" swAng="5400000"/>
                <a:lnTo>
                  <a:pt x="38100" y="832402"/>
                </a:lnTo>
                <a:arcTo hR="38100" wR="3810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gradFill rotWithShape="1">
            <a:gsLst>
              <a:gs pos="0">
                <a:srgbClr val="7FD7E6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0" name="Text 8"/>
          <p:cNvSpPr/>
          <p:nvPr/>
        </p:nvSpPr>
        <p:spPr>
          <a:xfrm>
            <a:off x="1656651" y="5467555"/>
            <a:ext cx="382398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Фев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2159949" y="4197083"/>
            <a:ext cx="419048" cy="1194378"/>
          </a:xfrm>
          <a:custGeom>
            <a:avLst/>
            <a:gdLst/>
            <a:ahLst/>
            <a:cxnLst/>
            <a:rect l="l" t="t" r="r" b="b"/>
            <a:pathLst>
              <a:path w="419048" h="1194378">
                <a:moveTo>
                  <a:pt x="95250" y="0"/>
                </a:moveTo>
                <a:lnTo>
                  <a:pt x="323798" y="0"/>
                </a:lnTo>
                <a:arcTo hR="95250" wR="95250" stAng="16200000" swAng="5400000"/>
                <a:lnTo>
                  <a:pt x="419048" y="1156278"/>
                </a:lnTo>
                <a:arcTo hR="38100" wR="38100" stAng="0" swAng="5400000"/>
                <a:lnTo>
                  <a:pt x="38100" y="1194378"/>
                </a:lnTo>
                <a:arcTo hR="38100" wR="3810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gradFill rotWithShape="1">
            <a:gsLst>
              <a:gs pos="0">
                <a:srgbClr val="7FD7E6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2" name="Text 10"/>
          <p:cNvSpPr/>
          <p:nvPr/>
        </p:nvSpPr>
        <p:spPr>
          <a:xfrm>
            <a:off x="2210033" y="5467555"/>
            <a:ext cx="39521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2719672" y="4739971"/>
            <a:ext cx="419048" cy="651479"/>
          </a:xfrm>
          <a:custGeom>
            <a:avLst/>
            <a:gdLst/>
            <a:ahLst/>
            <a:cxnLst/>
            <a:rect l="l" t="t" r="r" b="b"/>
            <a:pathLst>
              <a:path w="419048" h="651479">
                <a:moveTo>
                  <a:pt x="95250" y="0"/>
                </a:moveTo>
                <a:lnTo>
                  <a:pt x="323798" y="0"/>
                </a:lnTo>
                <a:arcTo hR="95250" wR="95250" stAng="16200000" swAng="5400000"/>
                <a:lnTo>
                  <a:pt x="419048" y="613379"/>
                </a:lnTo>
                <a:arcTo hR="38100" wR="38100" stAng="0" swAng="5400000"/>
                <a:lnTo>
                  <a:pt x="38100" y="651479"/>
                </a:lnTo>
                <a:arcTo hR="38100" wR="3810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gradFill rotWithShape="1">
            <a:gsLst>
              <a:gs pos="0">
                <a:srgbClr val="7FD7E6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4" name="Text 12"/>
          <p:cNvSpPr/>
          <p:nvPr/>
        </p:nvSpPr>
        <p:spPr>
          <a:xfrm>
            <a:off x="2778815" y="5467555"/>
            <a:ext cx="37696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Апр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3279396" y="4559052"/>
            <a:ext cx="419048" cy="832402"/>
          </a:xfrm>
          <a:custGeom>
            <a:avLst/>
            <a:gdLst/>
            <a:ahLst/>
            <a:cxnLst/>
            <a:rect l="l" t="t" r="r" b="b"/>
            <a:pathLst>
              <a:path w="419048" h="832402">
                <a:moveTo>
                  <a:pt x="95250" y="0"/>
                </a:moveTo>
                <a:lnTo>
                  <a:pt x="323798" y="0"/>
                </a:lnTo>
                <a:arcTo hR="95250" wR="95250" stAng="16200000" swAng="5400000"/>
                <a:lnTo>
                  <a:pt x="419048" y="794302"/>
                </a:lnTo>
                <a:arcTo hR="38100" wR="38100" stAng="0" swAng="5400000"/>
                <a:lnTo>
                  <a:pt x="38100" y="832402"/>
                </a:lnTo>
                <a:arcTo hR="38100" wR="3810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gradFill rotWithShape="1">
            <a:gsLst>
              <a:gs pos="0">
                <a:srgbClr val="7FD7E6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6" name="Text 14"/>
          <p:cNvSpPr/>
          <p:nvPr/>
        </p:nvSpPr>
        <p:spPr>
          <a:xfrm>
            <a:off x="3329350" y="5467555"/>
            <a:ext cx="395339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Май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3839119" y="4486721"/>
            <a:ext cx="419048" cy="904746"/>
          </a:xfrm>
          <a:custGeom>
            <a:avLst/>
            <a:gdLst/>
            <a:ahLst/>
            <a:cxnLst/>
            <a:rect l="l" t="t" r="r" b="b"/>
            <a:pathLst>
              <a:path w="419048" h="904746">
                <a:moveTo>
                  <a:pt x="95250" y="0"/>
                </a:moveTo>
                <a:lnTo>
                  <a:pt x="323798" y="0"/>
                </a:lnTo>
                <a:arcTo hR="95250" wR="95250" stAng="16200000" swAng="5400000"/>
                <a:lnTo>
                  <a:pt x="419048" y="866646"/>
                </a:lnTo>
                <a:arcTo hR="38100" wR="38100" stAng="0" swAng="5400000"/>
                <a:lnTo>
                  <a:pt x="38100" y="904746"/>
                </a:lnTo>
                <a:arcTo hR="38100" wR="3810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gradFill rotWithShape="1">
            <a:gsLst>
              <a:gs pos="0">
                <a:srgbClr val="7FD7E6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8" name="Text 16"/>
          <p:cNvSpPr/>
          <p:nvPr/>
        </p:nvSpPr>
        <p:spPr>
          <a:xfrm>
            <a:off x="3879755" y="5467555"/>
            <a:ext cx="414105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Июн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4398842" y="4378133"/>
            <a:ext cx="419048" cy="1013325"/>
          </a:xfrm>
          <a:custGeom>
            <a:avLst/>
            <a:gdLst/>
            <a:ahLst/>
            <a:cxnLst/>
            <a:rect l="l" t="t" r="r" b="b"/>
            <a:pathLst>
              <a:path w="419048" h="1013325">
                <a:moveTo>
                  <a:pt x="95250" y="0"/>
                </a:moveTo>
                <a:lnTo>
                  <a:pt x="323798" y="0"/>
                </a:lnTo>
                <a:arcTo hR="95250" wR="95250" stAng="16200000" swAng="5400000"/>
                <a:lnTo>
                  <a:pt x="419048" y="975225"/>
                </a:lnTo>
                <a:arcTo hR="38100" wR="38100" stAng="0" swAng="5400000"/>
                <a:lnTo>
                  <a:pt x="38100" y="1013325"/>
                </a:lnTo>
                <a:arcTo hR="38100" wR="3810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gradFill rotWithShape="1">
            <a:gsLst>
              <a:gs pos="0">
                <a:srgbClr val="7FD7E6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0" name="Text 18"/>
          <p:cNvSpPr/>
          <p:nvPr/>
        </p:nvSpPr>
        <p:spPr>
          <a:xfrm>
            <a:off x="4442714" y="5467555"/>
            <a:ext cx="407504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Июл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4958565" y="2676971"/>
            <a:ext cx="419048" cy="2714496"/>
          </a:xfrm>
          <a:custGeom>
            <a:avLst/>
            <a:gdLst/>
            <a:ahLst/>
            <a:cxnLst/>
            <a:rect l="l" t="t" r="r" b="b"/>
            <a:pathLst>
              <a:path w="419048" h="2714496">
                <a:moveTo>
                  <a:pt x="95250" y="0"/>
                </a:moveTo>
                <a:lnTo>
                  <a:pt x="323798" y="0"/>
                </a:lnTo>
                <a:arcTo hR="95250" wR="95250" stAng="16200000" swAng="5400000"/>
                <a:lnTo>
                  <a:pt x="419048" y="2676396"/>
                </a:lnTo>
                <a:arcTo hR="38100" wR="38100" stAng="0" swAng="5400000"/>
                <a:lnTo>
                  <a:pt x="38100" y="2714496"/>
                </a:lnTo>
                <a:arcTo hR="38100" wR="3810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gradFill rotWithShape="1">
            <a:gsLst>
              <a:gs pos="0">
                <a:srgbClr val="7FD7E6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2" name="Text 20"/>
          <p:cNvSpPr/>
          <p:nvPr/>
        </p:nvSpPr>
        <p:spPr>
          <a:xfrm>
            <a:off x="5037509" y="5467555"/>
            <a:ext cx="337361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Авг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5518288" y="2206544"/>
            <a:ext cx="419048" cy="3184922"/>
          </a:xfrm>
          <a:custGeom>
            <a:avLst/>
            <a:gdLst/>
            <a:ahLst/>
            <a:cxnLst/>
            <a:rect l="l" t="t" r="r" b="b"/>
            <a:pathLst>
              <a:path w="419048" h="3184922">
                <a:moveTo>
                  <a:pt x="95250" y="0"/>
                </a:moveTo>
                <a:lnTo>
                  <a:pt x="323798" y="0"/>
                </a:lnTo>
                <a:arcTo hR="95250" wR="95250" stAng="16200000" swAng="5400000"/>
                <a:lnTo>
                  <a:pt x="419048" y="3146822"/>
                </a:lnTo>
                <a:arcTo hR="38100" wR="38100" stAng="0" swAng="5400000"/>
                <a:lnTo>
                  <a:pt x="38100" y="3184922"/>
                </a:lnTo>
                <a:arcTo hR="38100" wR="3810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gradFill rotWithShape="1">
            <a:gsLst>
              <a:gs pos="0">
                <a:srgbClr val="7FD7E6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4" name="Text 22"/>
          <p:cNvSpPr/>
          <p:nvPr/>
        </p:nvSpPr>
        <p:spPr>
          <a:xfrm>
            <a:off x="5585972" y="5467555"/>
            <a:ext cx="360009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Сен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6078012" y="2022128"/>
            <a:ext cx="419048" cy="3369339"/>
          </a:xfrm>
          <a:custGeom>
            <a:avLst/>
            <a:gdLst/>
            <a:ahLst/>
            <a:cxnLst/>
            <a:rect l="l" t="t" r="r" b="b"/>
            <a:pathLst>
              <a:path w="419048" h="3369339">
                <a:moveTo>
                  <a:pt x="95250" y="0"/>
                </a:moveTo>
                <a:lnTo>
                  <a:pt x="323798" y="0"/>
                </a:lnTo>
                <a:arcTo hR="95250" wR="95250" stAng="16200000" swAng="5400000"/>
                <a:lnTo>
                  <a:pt x="419048" y="3331239"/>
                </a:lnTo>
                <a:arcTo hR="38100" wR="38100" stAng="0" swAng="5400000"/>
                <a:lnTo>
                  <a:pt x="38100" y="3369339"/>
                </a:lnTo>
                <a:arcTo hR="38100" wR="3810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gradFill rotWithShape="1">
            <a:gsLst>
              <a:gs pos="0">
                <a:srgbClr val="7FD7E6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6" name="Text 24"/>
          <p:cNvSpPr/>
          <p:nvPr/>
        </p:nvSpPr>
        <p:spPr>
          <a:xfrm>
            <a:off x="6152296" y="5467555"/>
            <a:ext cx="346808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Окт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6637734" y="2749432"/>
            <a:ext cx="419048" cy="2642023"/>
          </a:xfrm>
          <a:custGeom>
            <a:avLst/>
            <a:gdLst/>
            <a:ahLst/>
            <a:cxnLst/>
            <a:rect l="l" t="t" r="r" b="b"/>
            <a:pathLst>
              <a:path w="419048" h="2642023">
                <a:moveTo>
                  <a:pt x="95250" y="0"/>
                </a:moveTo>
                <a:lnTo>
                  <a:pt x="323798" y="0"/>
                </a:lnTo>
                <a:arcTo hR="95250" wR="95250" stAng="16200000" swAng="5400000"/>
                <a:lnTo>
                  <a:pt x="419048" y="2603923"/>
                </a:lnTo>
                <a:arcTo hR="38100" wR="38100" stAng="0" swAng="5400000"/>
                <a:lnTo>
                  <a:pt x="38100" y="2642023"/>
                </a:lnTo>
                <a:arcTo hR="38100" wR="3810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gradFill rotWithShape="1">
            <a:gsLst>
              <a:gs pos="0">
                <a:srgbClr val="7FD7E6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8" name="Text 26"/>
          <p:cNvSpPr/>
          <p:nvPr/>
        </p:nvSpPr>
        <p:spPr>
          <a:xfrm>
            <a:off x="6701149" y="5467555"/>
            <a:ext cx="36855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Ноя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7563445" y="1396138"/>
            <a:ext cx="3866425" cy="4547540"/>
          </a:xfrm>
          <a:prstGeom prst="roundRect">
            <a:avLst>
              <a:gd name="adj" fmla="val 5912"/>
            </a:avLst>
          </a:prstGeom>
          <a:ln w="9525">
            <a:solidFill>
              <a:srgbClr val="E4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9301" y="1651992"/>
            <a:ext cx="3690187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Трафик по регионам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8591783" y="2642797"/>
            <a:ext cx="1809750" cy="1809750"/>
          </a:xfrm>
          <a:prstGeom prst="ellipse">
            <a:avLst/>
          </a:prstGeom>
          <a:solidFill>
            <a:srgbClr val="FFB401"/>
          </a:solidFill>
          <a:ln/>
        </p:spPr>
      </p:sp>
      <p:sp>
        <p:nvSpPr>
          <p:cNvPr id="32" name="Shape 30"/>
          <p:cNvSpPr/>
          <p:nvPr/>
        </p:nvSpPr>
        <p:spPr>
          <a:xfrm>
            <a:off x="8972783" y="3023797"/>
            <a:ext cx="1047750" cy="10477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9158236" y="3319909"/>
            <a:ext cx="752915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36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39,6%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215567" y="3601510"/>
            <a:ext cx="63838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Москва</a:t>
            </a:r>
            <a:endParaRPr lang="en-US" sz="1125" dirty="0"/>
          </a:p>
        </p:txBody>
      </p:sp>
      <p:sp>
        <p:nvSpPr>
          <p:cNvPr id="35" name="Shape 33"/>
          <p:cNvSpPr/>
          <p:nvPr/>
        </p:nvSpPr>
        <p:spPr>
          <a:xfrm>
            <a:off x="7819301" y="5284050"/>
            <a:ext cx="95250" cy="95250"/>
          </a:xfrm>
          <a:prstGeom prst="roundRect">
            <a:avLst>
              <a:gd name="adj" fmla="val 30000"/>
            </a:avLst>
          </a:prstGeom>
          <a:solidFill>
            <a:srgbClr val="FFB401"/>
          </a:solidFill>
          <a:ln/>
        </p:spPr>
      </p:sp>
      <p:sp>
        <p:nvSpPr>
          <p:cNvPr id="36" name="Text 34"/>
          <p:cNvSpPr/>
          <p:nvPr/>
        </p:nvSpPr>
        <p:spPr>
          <a:xfrm>
            <a:off x="7981200" y="5244592"/>
            <a:ext cx="1073180" cy="212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Москва 39,6%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9149565" y="5284050"/>
            <a:ext cx="95250" cy="95250"/>
          </a:xfrm>
          <a:prstGeom prst="roundRect">
            <a:avLst>
              <a:gd name="adj" fmla="val 30000"/>
            </a:avLst>
          </a:prstGeom>
          <a:solidFill>
            <a:srgbClr val="00B9D2"/>
          </a:solidFill>
          <a:ln/>
        </p:spPr>
      </p:sp>
      <p:sp>
        <p:nvSpPr>
          <p:cNvPr id="38" name="Text 36"/>
          <p:cNvSpPr/>
          <p:nvPr/>
        </p:nvSpPr>
        <p:spPr>
          <a:xfrm>
            <a:off x="9311464" y="5244592"/>
            <a:ext cx="706964" cy="212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СПб 25%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10113583" y="5284050"/>
            <a:ext cx="95250" cy="95250"/>
          </a:xfrm>
          <a:prstGeom prst="roundRect">
            <a:avLst>
              <a:gd name="adj" fmla="val 30000"/>
            </a:avLst>
          </a:prstGeom>
          <a:solidFill>
            <a:srgbClr val="7FD7E6"/>
          </a:solidFill>
          <a:ln/>
        </p:spPr>
      </p:sp>
      <p:sp>
        <p:nvSpPr>
          <p:cNvPr id="40" name="Text 38"/>
          <p:cNvSpPr/>
          <p:nvPr/>
        </p:nvSpPr>
        <p:spPr>
          <a:xfrm>
            <a:off x="10275483" y="5244592"/>
            <a:ext cx="815181" cy="212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ЦФО 15,1%</a:t>
            </a:r>
            <a:endParaRPr lang="en-US" sz="1125" dirty="0"/>
          </a:p>
        </p:txBody>
      </p:sp>
      <p:sp>
        <p:nvSpPr>
          <p:cNvPr id="41" name="Shape 39"/>
          <p:cNvSpPr/>
          <p:nvPr/>
        </p:nvSpPr>
        <p:spPr>
          <a:xfrm>
            <a:off x="7819301" y="5553224"/>
            <a:ext cx="95250" cy="95250"/>
          </a:xfrm>
          <a:prstGeom prst="roundRect">
            <a:avLst>
              <a:gd name="adj" fmla="val 30000"/>
            </a:avLst>
          </a:prstGeom>
          <a:solidFill>
            <a:srgbClr val="8037FC"/>
          </a:solidFill>
          <a:ln/>
        </p:spPr>
      </p:sp>
      <p:sp>
        <p:nvSpPr>
          <p:cNvPr id="42" name="Text 40"/>
          <p:cNvSpPr/>
          <p:nvPr/>
        </p:nvSpPr>
        <p:spPr>
          <a:xfrm>
            <a:off x="7981200" y="5513766"/>
            <a:ext cx="664325" cy="212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Юг 4,3%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8740741" y="5553224"/>
            <a:ext cx="95250" cy="95250"/>
          </a:xfrm>
          <a:prstGeom prst="roundRect">
            <a:avLst>
              <a:gd name="adj" fmla="val 30000"/>
            </a:avLst>
          </a:prstGeom>
          <a:solidFill>
            <a:srgbClr val="F0577A"/>
          </a:solidFill>
          <a:ln/>
        </p:spPr>
      </p:sp>
      <p:sp>
        <p:nvSpPr>
          <p:cNvPr id="44" name="Text 42"/>
          <p:cNvSpPr/>
          <p:nvPr/>
        </p:nvSpPr>
        <p:spPr>
          <a:xfrm>
            <a:off x="8902640" y="5513766"/>
            <a:ext cx="786892" cy="212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Урал 3,3%</a:t>
            </a:r>
            <a:endParaRPr lang="en-US" sz="1125" dirty="0"/>
          </a:p>
        </p:txBody>
      </p:sp>
      <p:sp>
        <p:nvSpPr>
          <p:cNvPr id="45" name="Shape 43"/>
          <p:cNvSpPr/>
          <p:nvPr/>
        </p:nvSpPr>
        <p:spPr>
          <a:xfrm>
            <a:off x="9784738" y="5553224"/>
            <a:ext cx="95250" cy="95250"/>
          </a:xfrm>
          <a:prstGeom prst="roundRect">
            <a:avLst>
              <a:gd name="adj" fmla="val 30000"/>
            </a:avLst>
          </a:prstGeom>
          <a:solidFill>
            <a:srgbClr val="1EA65C"/>
          </a:solidFill>
          <a:ln/>
        </p:spPr>
      </p:sp>
      <p:sp>
        <p:nvSpPr>
          <p:cNvPr id="46" name="Text 44"/>
          <p:cNvSpPr/>
          <p:nvPr/>
        </p:nvSpPr>
        <p:spPr>
          <a:xfrm>
            <a:off x="9946637" y="5513766"/>
            <a:ext cx="1009344" cy="212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E5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Прочие 9,6%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762000" y="6303057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11237559" y="6303057"/>
            <a:ext cx="268641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8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11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5ED3E4">
                  <a:alpha val="100000"/>
                </a:srgbClr>
              </a:gs>
              <a:gs pos="55000">
                <a:srgbClr val="2BC3D8">
                  <a:alpha val="100000"/>
                </a:srgbClr>
              </a:gs>
              <a:gs pos="100000">
                <a:srgbClr val="00B9D2">
                  <a:alpha val="100000"/>
                </a:srgbClr>
              </a:gs>
            </a:gsLst>
            <a:lin ang="3600000" scaled="0"/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09544"/>
            <a:ext cx="1533577" cy="3047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2808201"/>
            <a:ext cx="11734800" cy="666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57"/>
              </a:lnSpc>
              <a:buNone/>
            </a:pPr>
            <a:r>
              <a:rPr lang="en-US" sz="4500" b="1" spc="-9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Спасибо за внимание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762000" y="3627276"/>
            <a:ext cx="11734800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Вопросы и следующие шаги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62000" y="5753044"/>
            <a:ext cx="16633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name@company.ru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31190" y="5753044"/>
            <a:ext cx="152236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+7 000 000-00-00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259" y="5753044"/>
            <a:ext cx="9841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company.ru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2000" y="6303076"/>
            <a:ext cx="2160842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компании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11280655" y="6303076"/>
            <a:ext cx="225546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2026-09-18T15:52:20Z</dcterms:created>
  <dcterms:modified xsi:type="dcterms:W3CDTF">2026-09-18T15:52:20Z</dcterms:modified>
</cp:coreProperties>
</file>